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41FE44-9D3D-498A-8AF2-CBA4C6848608}" v="10" dt="2026-06-02T20:33:48.3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210" d="100"/>
          <a:sy n="210" d="100"/>
        </p:scale>
        <p:origin x="384" y="168"/>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26"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theme" Target="theme/theme1.xml"/><Relationship Id="rId1" Type="http://schemas.openxmlformats.org/officeDocument/2006/relationships/slideMaster" Target="slideMasters/slideMaster1.xml"/><Relationship Id="rId32" Type="http://schemas.microsoft.com/office/2015/10/relationships/revisionInfo" Target="revisionInfo.xml"/><Relationship Id="rId28" Type="http://schemas.openxmlformats.org/officeDocument/2006/relationships/viewProps" Target="viewProps.xml"/><Relationship Id="rId31" Type="http://schemas.microsoft.com/office/2016/11/relationships/changesInfo" Target="changesInfos/changesInfo1.xml"/><Relationship Id="rId27" Type="http://schemas.openxmlformats.org/officeDocument/2006/relationships/presProps" Target="presProps.xml"/><Relationship Id="rId30" Type="http://schemas.openxmlformats.org/officeDocument/2006/relationships/tableStyles" Target="tableStyles.xml"/>  <Relationship Id="rId33" Type="http://schemas.openxmlformats.org/officeDocument/2006/relationships/slide" Target="slides/slide25.xml"/>
  <Relationship Id="rId34" Type="http://schemas.openxmlformats.org/officeDocument/2006/relationships/slide" Target="slides/slide26.xml"/>
  <Relationship Id="rId35" Type="http://schemas.openxmlformats.org/officeDocument/2006/relationships/slide" Target="slides/slide27.xml"/>
  <Relationship Id="rId36" Type="http://schemas.openxmlformats.org/officeDocument/2006/relationships/slide" Target="slides/slide28.xml"/>
  <Relationship Id="rId37" Type="http://schemas.openxmlformats.org/officeDocument/2006/relationships/slide" Target="slides/slide29.xml"/>
  <Relationship Id="rId38" Type="http://schemas.openxmlformats.org/officeDocument/2006/relationships/slide" Target="slides/slide30.xml"/>
  <Relationship Id="rId39" Type="http://schemas.openxmlformats.org/officeDocument/2006/relationships/slide" Target="slides/slide31.xml"/>
  <Relationship Id="rId40" Type="http://schemas.openxmlformats.org/officeDocument/2006/relationships/slide" Target="slides/slide32.xml"/>
  <Relationship Id="rId41" Type="http://schemas.openxmlformats.org/officeDocument/2006/relationships/slide" Target="slides/slide33.xml"/>
  <Relationship Id="rId42" Type="http://schemas.openxmlformats.org/officeDocument/2006/relationships/slide" Target="slides/slide34.xml"/>
  <Relationship Id="rId43" Type="http://schemas.openxmlformats.org/officeDocument/2006/relationships/slide" Target="slides/slide35.xml"/>
  <Relationship Id="rId44" Type="http://schemas.openxmlformats.org/officeDocument/2006/relationships/slide" Target="slides/slide36.xml"/>
  <Relationship Id="rId45" Type="http://schemas.openxmlformats.org/officeDocument/2006/relationships/slide" Target="slides/slide37.xml"/>
  <Relationship Id="rId46" Type="http://schemas.openxmlformats.org/officeDocument/2006/relationships/slide" Target="slides/slide38.xml"/>
  <Relationship Id="rId47" Type="http://schemas.openxmlformats.org/officeDocument/2006/relationships/slide" Target="slides/slide39.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mol Singh" userId="e71b76cf9a3795c8" providerId="LiveId" clId="{6E84B1DE-C365-4CFF-B73F-08C2D7DE79A7}"/>
    <pc:docChg chg="undo custSel delSld modSld">
      <pc:chgData name="Anmol Singh" userId="e71b76cf9a3795c8" providerId="LiveId" clId="{6E84B1DE-C365-4CFF-B73F-08C2D7DE79A7}" dt="2026-06-02T20:33:59.331" v="15" actId="2696"/>
      <pc:docMkLst>
        <pc:docMk/>
      </pc:docMkLst>
      <pc:sldChg chg="modSp mod">
        <pc:chgData name="Anmol Singh" userId="e71b76cf9a3795c8" providerId="LiveId" clId="{6E84B1DE-C365-4CFF-B73F-08C2D7DE79A7}" dt="2026-06-02T20:30:46.034" v="2" actId="20577"/>
        <pc:sldMkLst>
          <pc:docMk/>
          <pc:sldMk cId="0" sldId="256"/>
        </pc:sldMkLst>
        <pc:spChg chg="mod">
          <ac:chgData name="Anmol Singh" userId="e71b76cf9a3795c8" providerId="LiveId" clId="{6E84B1DE-C365-4CFF-B73F-08C2D7DE79A7}" dt="2026-06-02T20:30:42.760" v="0"/>
          <ac:spMkLst>
            <pc:docMk/>
            <pc:sldMk cId="0" sldId="256"/>
            <ac:spMk id="6" creationId="{00000000-0000-0000-0000-000000000000}"/>
          </ac:spMkLst>
        </pc:spChg>
        <pc:spChg chg="mod">
          <ac:chgData name="Anmol Singh" userId="e71b76cf9a3795c8" providerId="LiveId" clId="{6E84B1DE-C365-4CFF-B73F-08C2D7DE79A7}" dt="2026-06-02T20:30:46.034" v="2" actId="20577"/>
          <ac:spMkLst>
            <pc:docMk/>
            <pc:sldMk cId="0" sldId="256"/>
            <ac:spMk id="7" creationId="{00000000-0000-0000-0000-000000000000}"/>
          </ac:spMkLst>
        </pc:spChg>
      </pc:sldChg>
      <pc:sldChg chg="modSp">
        <pc:chgData name="Anmol Singh" userId="e71b76cf9a3795c8" providerId="LiveId" clId="{6E84B1DE-C365-4CFF-B73F-08C2D7DE79A7}" dt="2026-06-02T20:33:05.052" v="7"/>
        <pc:sldMkLst>
          <pc:docMk/>
          <pc:sldMk cId="0" sldId="266"/>
        </pc:sldMkLst>
        <pc:spChg chg="mod">
          <ac:chgData name="Anmol Singh" userId="e71b76cf9a3795c8" providerId="LiveId" clId="{6E84B1DE-C365-4CFF-B73F-08C2D7DE79A7}" dt="2026-06-02T20:32:24.526" v="4"/>
          <ac:spMkLst>
            <pc:docMk/>
            <pc:sldMk cId="0" sldId="266"/>
            <ac:spMk id="6" creationId="{00000000-0000-0000-0000-000000000000}"/>
          </ac:spMkLst>
        </pc:spChg>
        <pc:spChg chg="mod">
          <ac:chgData name="Anmol Singh" userId="e71b76cf9a3795c8" providerId="LiveId" clId="{6E84B1DE-C365-4CFF-B73F-08C2D7DE79A7}" dt="2026-06-02T20:32:36.045" v="5"/>
          <ac:spMkLst>
            <pc:docMk/>
            <pc:sldMk cId="0" sldId="266"/>
            <ac:spMk id="11" creationId="{00000000-0000-0000-0000-000000000000}"/>
          </ac:spMkLst>
        </pc:spChg>
        <pc:spChg chg="mod">
          <ac:chgData name="Anmol Singh" userId="e71b76cf9a3795c8" providerId="LiveId" clId="{6E84B1DE-C365-4CFF-B73F-08C2D7DE79A7}" dt="2026-06-02T20:32:46.594" v="6"/>
          <ac:spMkLst>
            <pc:docMk/>
            <pc:sldMk cId="0" sldId="266"/>
            <ac:spMk id="16" creationId="{00000000-0000-0000-0000-000000000000}"/>
          </ac:spMkLst>
        </pc:spChg>
        <pc:spChg chg="mod">
          <ac:chgData name="Anmol Singh" userId="e71b76cf9a3795c8" providerId="LiveId" clId="{6E84B1DE-C365-4CFF-B73F-08C2D7DE79A7}" dt="2026-06-02T20:33:05.052" v="7"/>
          <ac:spMkLst>
            <pc:docMk/>
            <pc:sldMk cId="0" sldId="266"/>
            <ac:spMk id="21" creationId="{00000000-0000-0000-0000-000000000000}"/>
          </ac:spMkLst>
        </pc:spChg>
      </pc:sldChg>
      <pc:sldChg chg="modSp mod">
        <pc:chgData name="Anmol Singh" userId="e71b76cf9a3795c8" providerId="LiveId" clId="{6E84B1DE-C365-4CFF-B73F-08C2D7DE79A7}" dt="2026-06-02T20:33:50.954" v="14" actId="1076"/>
        <pc:sldMkLst>
          <pc:docMk/>
          <pc:sldMk cId="0" sldId="267"/>
        </pc:sldMkLst>
        <pc:spChg chg="mod">
          <ac:chgData name="Anmol Singh" userId="e71b76cf9a3795c8" providerId="LiveId" clId="{6E84B1DE-C365-4CFF-B73F-08C2D7DE79A7}" dt="2026-06-02T20:33:19.156" v="8"/>
          <ac:spMkLst>
            <pc:docMk/>
            <pc:sldMk cId="0" sldId="267"/>
            <ac:spMk id="5" creationId="{00000000-0000-0000-0000-000000000000}"/>
          </ac:spMkLst>
        </pc:spChg>
        <pc:spChg chg="mod">
          <ac:chgData name="Anmol Singh" userId="e71b76cf9a3795c8" providerId="LiveId" clId="{6E84B1DE-C365-4CFF-B73F-08C2D7DE79A7}" dt="2026-06-02T20:33:33.096" v="9"/>
          <ac:spMkLst>
            <pc:docMk/>
            <pc:sldMk cId="0" sldId="267"/>
            <ac:spMk id="14" creationId="{00000000-0000-0000-0000-000000000000}"/>
          </ac:spMkLst>
        </pc:spChg>
        <pc:spChg chg="mod">
          <ac:chgData name="Anmol Singh" userId="e71b76cf9a3795c8" providerId="LiveId" clId="{6E84B1DE-C365-4CFF-B73F-08C2D7DE79A7}" dt="2026-06-02T20:33:35.905" v="11" actId="1076"/>
          <ac:spMkLst>
            <pc:docMk/>
            <pc:sldMk cId="0" sldId="267"/>
            <ac:spMk id="15" creationId="{00000000-0000-0000-0000-000000000000}"/>
          </ac:spMkLst>
        </pc:spChg>
        <pc:spChg chg="mod">
          <ac:chgData name="Anmol Singh" userId="e71b76cf9a3795c8" providerId="LiveId" clId="{6E84B1DE-C365-4CFF-B73F-08C2D7DE79A7}" dt="2026-06-02T20:33:48.310" v="12"/>
          <ac:spMkLst>
            <pc:docMk/>
            <pc:sldMk cId="0" sldId="267"/>
            <ac:spMk id="18" creationId="{00000000-0000-0000-0000-000000000000}"/>
          </ac:spMkLst>
        </pc:spChg>
        <pc:spChg chg="mod">
          <ac:chgData name="Anmol Singh" userId="e71b76cf9a3795c8" providerId="LiveId" clId="{6E84B1DE-C365-4CFF-B73F-08C2D7DE79A7}" dt="2026-06-02T20:33:50.954" v="14" actId="1076"/>
          <ac:spMkLst>
            <pc:docMk/>
            <pc:sldMk cId="0" sldId="267"/>
            <ac:spMk id="19" creationId="{00000000-0000-0000-0000-000000000000}"/>
          </ac:spMkLst>
        </pc:spChg>
      </pc:sldChg>
      <pc:sldChg chg="del">
        <pc:chgData name="Anmol Singh" userId="e71b76cf9a3795c8" providerId="LiveId" clId="{6E84B1DE-C365-4CFF-B73F-08C2D7DE79A7}" dt="2026-06-02T20:33:59.331" v="15" actId="2696"/>
        <pc:sldMkLst>
          <pc:docMk/>
          <pc:sldMk cId="0" sldId="26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4292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supp02.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supp03.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supp04.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supp05.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supp06.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supp07.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supp08.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supp09.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supp10.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supp1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supp12.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supp13.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supp14.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supp15.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supp1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63946"/>
          </a:solidFill>
          <a:ln w="12700">
            <a:solidFill>
              <a:srgbClr val="E63946"/>
            </a:solidFill>
            <a:prstDash val="solid"/>
          </a:ln>
        </p:spPr>
        <p:txBody>
          <a:bodyPr/>
          <a:lstStyle/>
          <a:p>
            <a:endParaRPr lang="en-GB"/>
          </a:p>
        </p:txBody>
      </p:sp>
      <p:sp>
        <p:nvSpPr>
          <p:cNvPr id="3" name="Text 1"/>
          <p:cNvSpPr/>
          <p:nvPr/>
        </p:nvSpPr>
        <p:spPr>
          <a:xfrm>
            <a:off x="457200" y="1005840"/>
            <a:ext cx="6858000" cy="182880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Supplementary Material</a:t>
            </a:r>
            <a:endParaRPr lang="en-US" sz="3600" dirty="0"/>
          </a:p>
        </p:txBody>
      </p:sp>
      <p:sp>
        <p:nvSpPr>
          <p:cNvPr id="4" name="Text 2"/>
          <p:cNvSpPr/>
          <p:nvPr/>
        </p:nvSpPr>
        <p:spPr>
          <a:xfrm>
            <a:off x="457200" y="2834640"/>
            <a:ext cx="6858000" cy="457200"/>
          </a:xfrm>
          <a:prstGeom prst="rect">
            <a:avLst/>
          </a:prstGeom>
          <a:noFill/>
          <a:ln/>
        </p:spPr>
        <p:txBody>
          <a:bodyPr wrap="square" rtlCol="0" anchor="ctr"/>
          <a:lstStyle/>
          <a:p>
            <a:pPr marL="0" indent="0">
              <a:buNone/>
            </a:pPr>
            <a:r>
              <a:rPr lang="en-US" sz="1800" i="1" dirty="0">
                <a:solidFill>
                  <a:srgbClr val="A8DADC"/>
                </a:solidFill>
                <a:latin typeface="Calibri" pitchFamily="34" charset="0"/>
                <a:ea typeface="Calibri" pitchFamily="34" charset="-122"/>
                <a:cs typeface="Calibri" pitchFamily="34" charset="-120"/>
              </a:rPr>
              <a:t>Survival Analysis of Colorectal and Stomach Cancers</a:t>
            </a:r>
            <a:endParaRPr lang="en-US" sz="1800" dirty="0"/>
          </a:p>
        </p:txBody>
      </p:sp>
      <p:sp>
        <p:nvSpPr>
          <p:cNvPr id="5" name="Shape 3"/>
          <p:cNvSpPr/>
          <p:nvPr/>
        </p:nvSpPr>
        <p:spPr>
          <a:xfrm>
            <a:off x="457200" y="3429000"/>
            <a:ext cx="3200400" cy="36576"/>
          </a:xfrm>
          <a:prstGeom prst="rect">
            <a:avLst/>
          </a:prstGeom>
          <a:solidFill>
            <a:srgbClr val="E63946"/>
          </a:solidFill>
          <a:ln w="12700">
            <a:solidFill>
              <a:srgbClr val="E63946"/>
            </a:solidFill>
            <a:prstDash val="solid"/>
          </a:ln>
        </p:spPr>
        <p:txBody>
          <a:bodyPr/>
          <a:lstStyle/>
          <a:p>
            <a:endParaRPr lang="en-GB"/>
          </a:p>
        </p:txBody>
      </p:sp>
      <p:sp>
        <p:nvSpPr>
          <p:cNvPr id="6" name="Text 4"/>
          <p:cNvSpPr/>
          <p:nvPr/>
        </p:nvSpPr>
        <p:spPr>
          <a:xfrm>
            <a:off x="457200" y="3749040"/>
            <a:ext cx="7315200" cy="365760"/>
          </a:xfrm>
          <a:prstGeom prst="rect">
            <a:avLst/>
          </a:prstGeom>
          <a:noFill/>
          <a:ln/>
        </p:spPr>
        <p:txBody>
          <a:bodyPr wrap="square" rtlCol="0" anchor="ctr"/>
          <a:lstStyle/>
          <a:p>
            <a:r>
              <a:rPr lang="en-US" sz="1300" b="1" dirty="0">
                <a:solidFill>
                  <a:srgbClr val="8D99AE"/>
                </a:solidFill>
                <a:latin typeface="Calibri" pitchFamily="34" charset="0"/>
                <a:ea typeface="Calibri" pitchFamily="34" charset="-122"/>
                <a:cs typeface="Calibri" pitchFamily="34" charset="-120"/>
              </a:rPr>
              <a:t>Student ID: </a:t>
            </a:r>
            <a:r>
              <a:rPr lang="en-US" sz="1300" dirty="0">
                <a:solidFill>
                  <a:srgbClr val="FFFFFF"/>
                </a:solidFill>
                <a:latin typeface="Calibri" pitchFamily="34" charset="0"/>
                <a:ea typeface="Calibri" pitchFamily="34" charset="-122"/>
                <a:cs typeface="Calibri" pitchFamily="34" charset="-120"/>
              </a:rPr>
              <a:t>3068804</a:t>
            </a:r>
            <a:r>
              <a:rPr lang="en-US" sz="1300" dirty="0">
                <a:solidFill>
                  <a:srgbClr val="8D99AE"/>
                </a:solidFill>
                <a:latin typeface="Calibri" pitchFamily="34" charset="0"/>
                <a:ea typeface="Calibri" pitchFamily="34" charset="-122"/>
                <a:cs typeface="Calibri" pitchFamily="34" charset="-120"/>
              </a:rPr>
              <a:t>   |   </a:t>
            </a:r>
            <a:r>
              <a:rPr lang="en-US" sz="1300" b="1" dirty="0">
                <a:solidFill>
                  <a:srgbClr val="8D99AE"/>
                </a:solidFill>
                <a:latin typeface="Calibri" pitchFamily="34" charset="0"/>
                <a:ea typeface="Calibri" pitchFamily="34" charset="-122"/>
                <a:cs typeface="Calibri" pitchFamily="34" charset="-120"/>
              </a:rPr>
              <a:t>Supervisor: </a:t>
            </a:r>
            <a:r>
              <a:rPr lang="en-US" sz="1300" dirty="0">
                <a:solidFill>
                  <a:srgbClr val="FFFFFF"/>
                </a:solidFill>
                <a:latin typeface="Calibri" pitchFamily="34" charset="0"/>
                <a:ea typeface="Calibri" pitchFamily="34" charset="-122"/>
                <a:cs typeface="Calibri" pitchFamily="34" charset="-120"/>
              </a:rPr>
              <a:t>Dr Sudip Mondal</a:t>
            </a:r>
            <a:endParaRPr lang="en-US" sz="1300" dirty="0"/>
          </a:p>
        </p:txBody>
      </p:sp>
      <p:sp>
        <p:nvSpPr>
          <p:cNvPr id="7" name="Text 5"/>
          <p:cNvSpPr/>
          <p:nvPr/>
        </p:nvSpPr>
        <p:spPr>
          <a:xfrm>
            <a:off x="457200" y="4480560"/>
            <a:ext cx="8229600" cy="365760"/>
          </a:xfrm>
          <a:prstGeom prst="rect">
            <a:avLst/>
          </a:prstGeom>
          <a:noFill/>
          <a:ln/>
        </p:spPr>
        <p:txBody>
          <a:bodyPr wrap="square" rtlCol="0" anchor="ctr"/>
          <a:lstStyle/>
          <a:p>
            <a:pPr marL="0" indent="0">
              <a:buNone/>
            </a:pPr>
            <a:r>
              <a:rPr lang="en-US" sz="1100" dirty="0">
                <a:solidFill>
                  <a:srgbClr val="8D99AE"/>
                </a:solidFill>
                <a:latin typeface="Calibri" pitchFamily="34" charset="0"/>
                <a:ea typeface="Calibri" pitchFamily="34" charset="-122"/>
                <a:cs typeface="Calibri" pitchFamily="34" charset="-120"/>
              </a:rPr>
              <a:t>MSc Health Data Science  |  University of Birmingham  </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HAP beeswarm">
    <p:bg>
      <p:bgPr>
        <a:solidFill>
          <a:srgbClr val="F1F3F4"/>
        </a:solidFill>
        <a:effectLst/>
      </p:bgPr>
    </p:bg>
    <p:spTree>
      <p:nvGrpSpPr>
        <p:cNvPr id="1" name=""/>
        <p:cNvGrpSpPr/>
        <p:nvPr/>
      </p:nvGrpSpPr>
      <p:grpSpPr>
        <a:xfrm>
          <a:off x="0" y="0"/>
          <a:ext cx="0" cy="0"/>
          <a:chOff x="0" y="0"/>
          <a:chExt cx="0" cy="0"/>
        </a:xfrm>
      </p:grpSpPr>
      <p:sp>
        <p:nvSpPr>
          <p:cNvPr id="2" name="Title"/>
          <p:cNvSpPr/>
          <p:nvPr/>
        </p:nvSpPr>
        <p:spPr>
          <a:xfrm>
            <a:off x="457200" y="228600"/>
            <a:ext cx="8229600" cy="502920"/>
          </a:xfrm>
          <a:prstGeom prst="rect">
            <a:avLst/>
          </a:prstGeom>
          <a:noFill/>
          <a:ln/>
        </p:spPr>
        <p:txBody>
          <a:bodyPr wrap="square" rtlCol="0" anchor="ctr"/>
          <a:lstStyle/>
          <a:p>
            <a:pPr marL="0" indent="0" algn="l">
              <a:buNone/>
            </a:pPr>
            <a:r>
              <a:rPr lang="en-US" sz="2600" b="1" dirty="0">
                <a:solidFill>
                  <a:srgbClr val="0D1B2A"/>
                </a:solidFill>
                <a:latin typeface="Calibri" pitchFamily="34" charset="0"/>
                <a:ea typeface="Calibri" pitchFamily="34" charset="-122"/>
                <a:cs typeface="Calibri" pitchFamily="34" charset="-120"/>
              </a:rPr>
              <a:t>SHAP Summary: Colon (COAD)</a:t>
            </a:r>
          </a:p>
        </p:txBody>
      </p:sp>
      <p:pic>
        <p:nvPicPr>
          <p:cNvPr id="3" name="Figure"/>
          <p:cNvPicPr>
            <a:picLocks noChangeAspect="1"/>
          </p:cNvPicPr>
          <p:nvPr/>
        </p:nvPicPr>
        <p:blipFill>
          <a:blip r:embed="rId2"/>
          <a:stretch>
            <a:fillRect/>
          </a:stretch>
        </p:blipFill>
        <p:spPr>
          <a:xfrm>
            <a:off x="2178122" y="800000"/>
            <a:ext cx="4787755" cy="3060000"/>
          </a:xfrm>
          <a:prstGeom prst="rect">
            <a:avLst/>
          </a:prstGeom>
        </p:spPr>
      </p:pic>
      <p:sp>
        <p:nvSpPr>
          <p:cNvPr id="4" name="Accent"/>
          <p:cNvSpPr/>
          <p:nvPr/>
        </p:nvSpPr>
        <p:spPr>
          <a:xfrm>
            <a:off x="274320" y="3910000"/>
            <a:ext cx="109728" cy="470000"/>
          </a:xfrm>
          <a:prstGeom prst="rect">
            <a:avLst/>
          </a:prstGeom>
          <a:solidFill>
            <a:srgbClr val="1E6091"/>
          </a:solidFill>
        </p:spPr>
        <p:txBody>
          <a:bodyPr/>
          <a:lstStyle/>
          <a:p>
            <a:endParaRPr lang="en-GB"/>
          </a:p>
        </p:txBody>
      </p:sp>
      <p:sp>
        <p:nvSpPr>
          <p:cNvPr id="5" name="Caption"/>
          <p:cNvSpPr/>
          <p:nvPr/>
        </p:nvSpPr>
        <p:spPr>
          <a:xfrm>
            <a:off x="470000" y="3910000"/>
            <a:ext cx="8400000" cy="950000"/>
          </a:xfrm>
          <a:prstGeom prst="rect">
            <a:avLst/>
          </a:prstGeom>
          <a:noFill/>
          <a:ln/>
        </p:spPr>
        <p:txBody>
          <a:bodyPr wrap="square" rtlCol="0" anchor="t"/>
          <a:lstStyle/>
          <a:p>
            <a:pPr marL="0" indent="0" algn="l">
              <a:buNone/>
            </a:pPr>
            <a:r>
              <a:rPr lang="en-US" sz="1100" i="1" dirty="0">
                <a:solidFill>
                  <a:srgbClr val="5A6570"/>
                </a:solidFill>
                <a:latin typeface="Calibri" pitchFamily="34" charset="0"/>
                <a:ea typeface="Calibri" pitchFamily="34" charset="-122"/>
                <a:cs typeface="Calibri" pitchFamily="34" charset="-120"/>
              </a:rPr>
              <a:t>Colon. Each dot is a patient, coloured by feature value. Overall stage, N stage and age dominate, and later stage and residual disease push predicted risk higher. Same direction of effect as stomach in the main deck, which is what makes the transfer work.</a:t>
            </a:r>
          </a:p>
        </p:txBody>
      </p:sp>
      <p:sp>
        <p:nvSpPr>
          <p:cNvPr id="55" name="slidenum"/>
          <p:cNvSpPr>
            <a:spLocks noGrp="1"/>
          </p:cNvSpPr>
          <p:nvPr/>
        </p:nvSpPr>
        <p:spPr>
          <a:xfrm>
            <a:off x="8469680" y="4790000"/>
            <a:ext cx="400000" cy="230000"/>
          </a:xfrm>
          <a:prstGeom prst="rect">
            <a:avLst/>
          </a:prstGeom>
          <a:noFill/>
        </p:spPr>
        <p:txBody>
          <a:bodyPr wrap="none" lIns="0" tIns="0" rIns="0" bIns="0" anchor="ctr"/>
          <a:lstStyle/>
          <a:p>
            <a:pPr algn="r"/>
            <a:r>
              <a:rPr lang="en-US" sz="1000" b="0">
                <a:solidFill>
                  <a:srgbClr val="808080"/>
                </a:solidFill>
              </a:rPr>
              <a:t>2</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HAP beeswarm">
    <p:bg>
      <p:bgPr>
        <a:solidFill>
          <a:srgbClr val="F1F3F4"/>
        </a:solidFill>
        <a:effectLst/>
      </p:bgPr>
    </p:bg>
    <p:spTree>
      <p:nvGrpSpPr>
        <p:cNvPr id="1" name=""/>
        <p:cNvGrpSpPr/>
        <p:nvPr/>
      </p:nvGrpSpPr>
      <p:grpSpPr>
        <a:xfrm>
          <a:off x="0" y="0"/>
          <a:ext cx="0" cy="0"/>
          <a:chOff x="0" y="0"/>
          <a:chExt cx="0" cy="0"/>
        </a:xfrm>
      </p:grpSpPr>
      <p:sp>
        <p:nvSpPr>
          <p:cNvPr id="2" name="Title"/>
          <p:cNvSpPr/>
          <p:nvPr/>
        </p:nvSpPr>
        <p:spPr>
          <a:xfrm>
            <a:off x="457200" y="228600"/>
            <a:ext cx="8229600" cy="502920"/>
          </a:xfrm>
          <a:prstGeom prst="rect">
            <a:avLst/>
          </a:prstGeom>
          <a:noFill/>
          <a:ln/>
        </p:spPr>
        <p:txBody>
          <a:bodyPr wrap="square" rtlCol="0" anchor="ctr"/>
          <a:lstStyle/>
          <a:p>
            <a:pPr marL="0" indent="0" algn="l">
              <a:buNone/>
            </a:pPr>
            <a:r>
              <a:rPr lang="en-US" sz="2600" b="1" dirty="0">
                <a:solidFill>
                  <a:srgbClr val="0D1B2A"/>
                </a:solidFill>
                <a:latin typeface="Calibri" pitchFamily="34" charset="0"/>
                <a:ea typeface="Calibri" pitchFamily="34" charset="-122"/>
                <a:cs typeface="Calibri" pitchFamily="34" charset="-120"/>
              </a:rPr>
              <a:t>SHAP Summary: Rectum (READ)</a:t>
            </a:r>
          </a:p>
        </p:txBody>
      </p:sp>
      <p:pic>
        <p:nvPicPr>
          <p:cNvPr id="3" name="Figure"/>
          <p:cNvPicPr>
            <a:picLocks noChangeAspect="1"/>
          </p:cNvPicPr>
          <p:nvPr/>
        </p:nvPicPr>
        <p:blipFill>
          <a:blip r:embed="rId2"/>
          <a:stretch>
            <a:fillRect/>
          </a:stretch>
        </p:blipFill>
        <p:spPr>
          <a:xfrm>
            <a:off x="2178122" y="800000"/>
            <a:ext cx="4787755" cy="3060000"/>
          </a:xfrm>
          <a:prstGeom prst="rect">
            <a:avLst/>
          </a:prstGeom>
        </p:spPr>
      </p:pic>
      <p:sp>
        <p:nvSpPr>
          <p:cNvPr id="4" name="Accent"/>
          <p:cNvSpPr/>
          <p:nvPr/>
        </p:nvSpPr>
        <p:spPr>
          <a:xfrm>
            <a:off x="274320" y="3910000"/>
            <a:ext cx="109728" cy="470000"/>
          </a:xfrm>
          <a:prstGeom prst="rect">
            <a:avLst/>
          </a:prstGeom>
          <a:solidFill>
            <a:srgbClr val="1E6091"/>
          </a:solidFill>
        </p:spPr>
        <p:txBody>
          <a:bodyPr/>
          <a:lstStyle/>
          <a:p>
            <a:endParaRPr lang="en-GB"/>
          </a:p>
        </p:txBody>
      </p:sp>
      <p:sp>
        <p:nvSpPr>
          <p:cNvPr id="5" name="Caption"/>
          <p:cNvSpPr/>
          <p:nvPr/>
        </p:nvSpPr>
        <p:spPr>
          <a:xfrm>
            <a:off x="470000" y="3910000"/>
            <a:ext cx="8400000" cy="950000"/>
          </a:xfrm>
          <a:prstGeom prst="rect">
            <a:avLst/>
          </a:prstGeom>
          <a:noFill/>
          <a:ln/>
        </p:spPr>
        <p:txBody>
          <a:bodyPr wrap="square" rtlCol="0" anchor="t"/>
          <a:lstStyle/>
          <a:p>
            <a:pPr marL="0" indent="0" algn="l">
              <a:buNone/>
            </a:pPr>
            <a:r>
              <a:rPr lang="en-US" sz="1100" i="1" dirty="0">
                <a:solidFill>
                  <a:srgbClr val="5A6570"/>
                </a:solidFill>
                <a:latin typeface="Calibri" pitchFamily="34" charset="0"/>
                <a:ea typeface="Calibri" pitchFamily="34" charset="-122"/>
                <a:cs typeface="Calibri" pitchFamily="34" charset="-120"/>
              </a:rPr>
              <a:t>Rectum. Age is the strongest single feature here, ahead of overall stage, matching both the Cox model and the permutation importance. Direction of effect is the same as colon and stomach, but with only 27 deaths the spread is wider.</a:t>
            </a:r>
          </a:p>
        </p:txBody>
      </p:sp>
      <p:sp>
        <p:nvSpPr>
          <p:cNvPr id="55" name="slidenum"/>
          <p:cNvSpPr>
            <a:spLocks noGrp="1"/>
          </p:cNvSpPr>
          <p:nvPr/>
        </p:nvSpPr>
        <p:spPr>
          <a:xfrm>
            <a:off x="8469680" y="4790000"/>
            <a:ext cx="400000" cy="230000"/>
          </a:xfrm>
          <a:prstGeom prst="rect">
            <a:avLst/>
          </a:prstGeom>
          <a:noFill/>
        </p:spPr>
        <p:txBody>
          <a:bodyPr wrap="none" lIns="0" tIns="0" rIns="0" bIns="0" anchor="ctr"/>
          <a:lstStyle/>
          <a:p>
            <a:pPr algn="r"/>
            <a:r>
              <a:rPr lang="en-US" sz="1000" b="0">
                <a:solidFill>
                  <a:srgbClr val="808080"/>
                </a:solidFill>
              </a:rPr>
              <a:t>3</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HAP beeswarm">
    <p:bg>
      <p:bgPr>
        <a:solidFill>
          <a:srgbClr val="F1F3F4"/>
        </a:solidFill>
        <a:effectLst/>
      </p:bgPr>
    </p:bg>
    <p:spTree>
      <p:nvGrpSpPr>
        <p:cNvPr id="1" name=""/>
        <p:cNvGrpSpPr/>
        <p:nvPr/>
      </p:nvGrpSpPr>
      <p:grpSpPr>
        <a:xfrm>
          <a:off x="0" y="0"/>
          <a:ext cx="0" cy="0"/>
          <a:chOff x="0" y="0"/>
          <a:chExt cx="0" cy="0"/>
        </a:xfrm>
      </p:grpSpPr>
      <p:sp>
        <p:nvSpPr>
          <p:cNvPr id="2" name="Title"/>
          <p:cNvSpPr/>
          <p:nvPr/>
        </p:nvSpPr>
        <p:spPr>
          <a:xfrm>
            <a:off x="457200" y="228600"/>
            <a:ext cx="8229600" cy="502920"/>
          </a:xfrm>
          <a:prstGeom prst="rect">
            <a:avLst/>
          </a:prstGeom>
          <a:noFill/>
          <a:ln/>
        </p:spPr>
        <p:txBody>
          <a:bodyPr wrap="square" rtlCol="0" anchor="ctr"/>
          <a:lstStyle/>
          <a:p>
            <a:pPr marL="0" indent="0" algn="l">
              <a:buNone/>
            </a:pPr>
            <a:r>
              <a:rPr lang="en-US" sz="2600" b="1" dirty="0">
                <a:solidFill>
                  <a:srgbClr val="0D1B2A"/>
                </a:solidFill>
                <a:latin typeface="Calibri" pitchFamily="34" charset="0"/>
                <a:ea typeface="Calibri" pitchFamily="34" charset="-122"/>
                <a:cs typeface="Calibri" pitchFamily="34" charset="-120"/>
              </a:rPr>
              <a:t>Kaplan-Meier: Survival by Sex</a:t>
            </a:r>
          </a:p>
        </p:txBody>
      </p:sp>
      <p:pic>
        <p:nvPicPr>
          <p:cNvPr id="3" name="Figure"/>
          <p:cNvPicPr>
            <a:picLocks noChangeAspect="1"/>
          </p:cNvPicPr>
          <p:nvPr/>
        </p:nvPicPr>
        <p:blipFill>
          <a:blip r:embed="rId2"/>
          <a:stretch>
            <a:fillRect/>
          </a:stretch>
        </p:blipFill>
        <p:spPr>
          <a:xfrm>
            <a:off x="472000" y="913803"/>
            <a:ext cx="8200000" cy="2832393"/>
          </a:xfrm>
          <a:prstGeom prst="rect">
            <a:avLst/>
          </a:prstGeom>
        </p:spPr>
      </p:pic>
      <p:sp>
        <p:nvSpPr>
          <p:cNvPr id="4" name="Accent"/>
          <p:cNvSpPr/>
          <p:nvPr/>
        </p:nvSpPr>
        <p:spPr>
          <a:xfrm>
            <a:off x="274320" y="3910000"/>
            <a:ext cx="109728" cy="470000"/>
          </a:xfrm>
          <a:prstGeom prst="rect">
            <a:avLst/>
          </a:prstGeom>
          <a:solidFill>
            <a:srgbClr val="1E6091"/>
          </a:solidFill>
        </p:spPr>
        <p:txBody>
          <a:bodyPr/>
          <a:lstStyle/>
          <a:p>
            <a:endParaRPr lang="en-GB"/>
          </a:p>
        </p:txBody>
      </p:sp>
      <p:sp>
        <p:nvSpPr>
          <p:cNvPr id="5" name="Caption"/>
          <p:cNvSpPr/>
          <p:nvPr/>
        </p:nvSpPr>
        <p:spPr>
          <a:xfrm>
            <a:off x="470000" y="3910000"/>
            <a:ext cx="8400000" cy="950000"/>
          </a:xfrm>
          <a:prstGeom prst="rect">
            <a:avLst/>
          </a:prstGeom>
          <a:noFill/>
          <a:ln/>
        </p:spPr>
        <p:txBody>
          <a:bodyPr wrap="square" rtlCol="0" anchor="t"/>
          <a:lstStyle/>
          <a:p>
            <a:pPr marL="0" indent="0" algn="l">
              <a:buNone/>
            </a:pPr>
            <a:r>
              <a:rPr lang="en-US" sz="1100" i="1" dirty="0">
                <a:solidFill>
                  <a:srgbClr val="5A6570"/>
                </a:solidFill>
                <a:latin typeface="Calibri" pitchFamily="34" charset="0"/>
                <a:ea typeface="Calibri" pitchFamily="34" charset="-122"/>
                <a:cs typeface="Calibri" pitchFamily="34" charset="-120"/>
              </a:rPr>
              <a:t>No significant survival difference by sex in any cancer (colon p = 0.55, rectum p = 0.68, stomach p = 0.64). Notable for stomach, which is 65% male: the imbalance in cohort composition does not translate into a survival difference.</a:t>
            </a:r>
          </a:p>
        </p:txBody>
      </p:sp>
      <p:sp>
        <p:nvSpPr>
          <p:cNvPr id="55" name="slidenum"/>
          <p:cNvSpPr>
            <a:spLocks noGrp="1"/>
          </p:cNvSpPr>
          <p:nvPr/>
        </p:nvSpPr>
        <p:spPr>
          <a:xfrm>
            <a:off x="8469680" y="4790000"/>
            <a:ext cx="400000" cy="230000"/>
          </a:xfrm>
          <a:prstGeom prst="rect">
            <a:avLst/>
          </a:prstGeom>
          <a:noFill/>
        </p:spPr>
        <p:txBody>
          <a:bodyPr wrap="none" lIns="0" tIns="0" rIns="0" bIns="0" anchor="ctr"/>
          <a:lstStyle/>
          <a:p>
            <a:pPr algn="r"/>
            <a:r>
              <a:rPr lang="en-US" sz="1000" b="0">
                <a:solidFill>
                  <a:srgbClr val="808080"/>
                </a:solidFill>
              </a:rPr>
              <a:t>4</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HAP beeswarm">
    <p:bg>
      <p:bgPr>
        <a:solidFill>
          <a:srgbClr val="F1F3F4"/>
        </a:solidFill>
        <a:effectLst/>
      </p:bgPr>
    </p:bg>
    <p:spTree>
      <p:nvGrpSpPr>
        <p:cNvPr id="1" name=""/>
        <p:cNvGrpSpPr/>
        <p:nvPr/>
      </p:nvGrpSpPr>
      <p:grpSpPr>
        <a:xfrm>
          <a:off x="0" y="0"/>
          <a:ext cx="0" cy="0"/>
          <a:chOff x="0" y="0"/>
          <a:chExt cx="0" cy="0"/>
        </a:xfrm>
      </p:grpSpPr>
      <p:sp>
        <p:nvSpPr>
          <p:cNvPr id="2" name="Title"/>
          <p:cNvSpPr/>
          <p:nvPr/>
        </p:nvSpPr>
        <p:spPr>
          <a:xfrm>
            <a:off x="457200" y="228600"/>
            <a:ext cx="8229600" cy="502920"/>
          </a:xfrm>
          <a:prstGeom prst="rect">
            <a:avLst/>
          </a:prstGeom>
          <a:noFill/>
          <a:ln/>
        </p:spPr>
        <p:txBody>
          <a:bodyPr wrap="square" rtlCol="0" anchor="ctr"/>
          <a:lstStyle/>
          <a:p>
            <a:pPr marL="0" indent="0" algn="l">
              <a:buNone/>
            </a:pPr>
            <a:r>
              <a:rPr lang="en-US" sz="2600" b="1" dirty="0">
                <a:solidFill>
                  <a:srgbClr val="0D1B2A"/>
                </a:solidFill>
                <a:latin typeface="Calibri" pitchFamily="34" charset="0"/>
                <a:ea typeface="Calibri" pitchFamily="34" charset="-122"/>
                <a:cs typeface="Calibri" pitchFamily="34" charset="-120"/>
              </a:rPr>
              <a:t>Kaplan-Meier: Survival by Age Group</a:t>
            </a:r>
          </a:p>
        </p:txBody>
      </p:sp>
      <p:pic>
        <p:nvPicPr>
          <p:cNvPr id="3" name="Figure"/>
          <p:cNvPicPr>
            <a:picLocks noChangeAspect="1"/>
          </p:cNvPicPr>
          <p:nvPr/>
        </p:nvPicPr>
        <p:blipFill>
          <a:blip r:embed="rId2"/>
          <a:stretch>
            <a:fillRect/>
          </a:stretch>
        </p:blipFill>
        <p:spPr>
          <a:xfrm>
            <a:off x="472000" y="913803"/>
            <a:ext cx="8200000" cy="2832393"/>
          </a:xfrm>
          <a:prstGeom prst="rect">
            <a:avLst/>
          </a:prstGeom>
        </p:spPr>
      </p:pic>
      <p:sp>
        <p:nvSpPr>
          <p:cNvPr id="4" name="Accent"/>
          <p:cNvSpPr/>
          <p:nvPr/>
        </p:nvSpPr>
        <p:spPr>
          <a:xfrm>
            <a:off x="274320" y="3910000"/>
            <a:ext cx="109728" cy="470000"/>
          </a:xfrm>
          <a:prstGeom prst="rect">
            <a:avLst/>
          </a:prstGeom>
          <a:solidFill>
            <a:srgbClr val="1E6091"/>
          </a:solidFill>
        </p:spPr>
        <p:txBody>
          <a:bodyPr/>
          <a:lstStyle/>
          <a:p>
            <a:endParaRPr lang="en-GB"/>
          </a:p>
        </p:txBody>
      </p:sp>
      <p:sp>
        <p:nvSpPr>
          <p:cNvPr id="5" name="Caption"/>
          <p:cNvSpPr/>
          <p:nvPr/>
        </p:nvSpPr>
        <p:spPr>
          <a:xfrm>
            <a:off x="470000" y="3910000"/>
            <a:ext cx="8400000" cy="950000"/>
          </a:xfrm>
          <a:prstGeom prst="rect">
            <a:avLst/>
          </a:prstGeom>
          <a:noFill/>
          <a:ln/>
        </p:spPr>
        <p:txBody>
          <a:bodyPr wrap="square" rtlCol="0" anchor="t"/>
          <a:lstStyle/>
          <a:p>
            <a:pPr marL="0" indent="0" algn="l">
              <a:buNone/>
            </a:pPr>
            <a:r>
              <a:rPr lang="en-US" sz="1100" i="1" dirty="0">
                <a:solidFill>
                  <a:srgbClr val="5A6570"/>
                </a:solidFill>
                <a:latin typeface="Calibri" pitchFamily="34" charset="0"/>
                <a:ea typeface="Calibri" pitchFamily="34" charset="-122"/>
                <a:cs typeface="Calibri" pitchFamily="34" charset="-120"/>
              </a:rPr>
              <a:t>Significant in rectum (p = 0.001) but not colon (p = 0.075) or stomach (p = 0.28). Older groups fare worse in rectum, with the same non-significant gradient visible in colon. Steep drops in the tails are where few patients remain at risk.</a:t>
            </a:r>
          </a:p>
        </p:txBody>
      </p:sp>
      <p:sp>
        <p:nvSpPr>
          <p:cNvPr id="55" name="slidenum"/>
          <p:cNvSpPr>
            <a:spLocks noGrp="1"/>
          </p:cNvSpPr>
          <p:nvPr/>
        </p:nvSpPr>
        <p:spPr>
          <a:xfrm>
            <a:off x="8469680" y="4790000"/>
            <a:ext cx="400000" cy="230000"/>
          </a:xfrm>
          <a:prstGeom prst="rect">
            <a:avLst/>
          </a:prstGeom>
          <a:noFill/>
        </p:spPr>
        <p:txBody>
          <a:bodyPr wrap="none" lIns="0" tIns="0" rIns="0" bIns="0" anchor="ctr"/>
          <a:lstStyle/>
          <a:p>
            <a:pPr algn="r"/>
            <a:r>
              <a:rPr lang="en-US" sz="1000" b="0">
                <a:solidFill>
                  <a:srgbClr val="808080"/>
                </a:solidFill>
              </a:rPr>
              <a:t>5</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HAP beeswarm">
    <p:bg>
      <p:bgPr>
        <a:solidFill>
          <a:srgbClr val="F1F3F4"/>
        </a:solidFill>
        <a:effectLst/>
      </p:bgPr>
    </p:bg>
    <p:spTree>
      <p:nvGrpSpPr>
        <p:cNvPr id="1" name=""/>
        <p:cNvGrpSpPr/>
        <p:nvPr/>
      </p:nvGrpSpPr>
      <p:grpSpPr>
        <a:xfrm>
          <a:off x="0" y="0"/>
          <a:ext cx="0" cy="0"/>
          <a:chOff x="0" y="0"/>
          <a:chExt cx="0" cy="0"/>
        </a:xfrm>
      </p:grpSpPr>
      <p:sp>
        <p:nvSpPr>
          <p:cNvPr id="2" name="Title"/>
          <p:cNvSpPr/>
          <p:nvPr/>
        </p:nvSpPr>
        <p:spPr>
          <a:xfrm>
            <a:off x="457200" y="228600"/>
            <a:ext cx="8229600" cy="502920"/>
          </a:xfrm>
          <a:prstGeom prst="rect">
            <a:avLst/>
          </a:prstGeom>
          <a:noFill/>
          <a:ln/>
        </p:spPr>
        <p:txBody>
          <a:bodyPr wrap="square" rtlCol="0" anchor="ctr"/>
          <a:lstStyle/>
          <a:p>
            <a:pPr marL="0" indent="0" algn="l">
              <a:buNone/>
            </a:pPr>
            <a:r>
              <a:rPr lang="en-US" sz="2600" b="1" dirty="0">
                <a:solidFill>
                  <a:srgbClr val="0D1B2A"/>
                </a:solidFill>
                <a:latin typeface="Calibri" pitchFamily="34" charset="0"/>
                <a:ea typeface="Calibri" pitchFamily="34" charset="-122"/>
                <a:cs typeface="Calibri" pitchFamily="34" charset="-120"/>
              </a:rPr>
              <a:t>Sex Distribution by Cancer</a:t>
            </a:r>
          </a:p>
        </p:txBody>
      </p:sp>
      <p:pic>
        <p:nvPicPr>
          <p:cNvPr id="3" name="Figure"/>
          <p:cNvPicPr>
            <a:picLocks noChangeAspect="1"/>
          </p:cNvPicPr>
          <p:nvPr/>
        </p:nvPicPr>
        <p:blipFill>
          <a:blip r:embed="rId2"/>
          <a:stretch>
            <a:fillRect/>
          </a:stretch>
        </p:blipFill>
        <p:spPr>
          <a:xfrm>
            <a:off x="584102" y="800000"/>
            <a:ext cx="7975795" cy="3060000"/>
          </a:xfrm>
          <a:prstGeom prst="rect">
            <a:avLst/>
          </a:prstGeom>
        </p:spPr>
      </p:pic>
      <p:sp>
        <p:nvSpPr>
          <p:cNvPr id="4" name="Accent"/>
          <p:cNvSpPr/>
          <p:nvPr/>
        </p:nvSpPr>
        <p:spPr>
          <a:xfrm>
            <a:off x="274320" y="3910000"/>
            <a:ext cx="109728" cy="470000"/>
          </a:xfrm>
          <a:prstGeom prst="rect">
            <a:avLst/>
          </a:prstGeom>
          <a:solidFill>
            <a:srgbClr val="1E6091"/>
          </a:solidFill>
        </p:spPr>
        <p:txBody>
          <a:bodyPr/>
          <a:lstStyle/>
          <a:p>
            <a:endParaRPr lang="en-GB"/>
          </a:p>
        </p:txBody>
      </p:sp>
      <p:sp>
        <p:nvSpPr>
          <p:cNvPr id="5" name="Caption"/>
          <p:cNvSpPr/>
          <p:nvPr/>
        </p:nvSpPr>
        <p:spPr>
          <a:xfrm>
            <a:off x="470000" y="3910000"/>
            <a:ext cx="8400000" cy="950000"/>
          </a:xfrm>
          <a:prstGeom prst="rect">
            <a:avLst/>
          </a:prstGeom>
          <a:noFill/>
          <a:ln/>
        </p:spPr>
        <p:txBody>
          <a:bodyPr wrap="square" rtlCol="0" anchor="t"/>
          <a:lstStyle/>
          <a:p>
            <a:pPr marL="0" indent="0" algn="l">
              <a:buNone/>
            </a:pPr>
            <a:r>
              <a:rPr lang="en-US" sz="1100" i="1" dirty="0">
                <a:solidFill>
                  <a:srgbClr val="5A6570"/>
                </a:solidFill>
                <a:latin typeface="Calibri" pitchFamily="34" charset="0"/>
                <a:ea typeface="Calibri" pitchFamily="34" charset="-122"/>
                <a:cs typeface="Calibri" pitchFamily="34" charset="-120"/>
              </a:rPr>
              <a:t>Colon and rectum are close to balanced (54% and 56% male); stomach is markedly male-skewed at 65%, consistent with the known epidemiology of gastric cancer. Sex is carried as a covariate and adjusted for in the cross-cancer comparison.</a:t>
            </a:r>
          </a:p>
        </p:txBody>
      </p:sp>
      <p:sp>
        <p:nvSpPr>
          <p:cNvPr id="55" name="slidenum"/>
          <p:cNvSpPr>
            <a:spLocks noGrp="1"/>
          </p:cNvSpPr>
          <p:nvPr/>
        </p:nvSpPr>
        <p:spPr>
          <a:xfrm>
            <a:off x="8469680" y="4790000"/>
            <a:ext cx="400000" cy="230000"/>
          </a:xfrm>
          <a:prstGeom prst="rect">
            <a:avLst/>
          </a:prstGeom>
          <a:noFill/>
        </p:spPr>
        <p:txBody>
          <a:bodyPr wrap="none" lIns="0" tIns="0" rIns="0" bIns="0" anchor="ctr"/>
          <a:lstStyle/>
          <a:p>
            <a:pPr algn="r"/>
            <a:r>
              <a:rPr lang="en-US" sz="1000" b="0">
                <a:solidFill>
                  <a:srgbClr val="808080"/>
                </a:solidFill>
              </a:rPr>
              <a:t>6</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HAP beeswarm">
    <p:bg>
      <p:bgPr>
        <a:solidFill>
          <a:srgbClr val="F1F3F4"/>
        </a:solidFill>
        <a:effectLst/>
      </p:bgPr>
    </p:bg>
    <p:spTree>
      <p:nvGrpSpPr>
        <p:cNvPr id="1" name=""/>
        <p:cNvGrpSpPr/>
        <p:nvPr/>
      </p:nvGrpSpPr>
      <p:grpSpPr>
        <a:xfrm>
          <a:off x="0" y="0"/>
          <a:ext cx="0" cy="0"/>
          <a:chOff x="0" y="0"/>
          <a:chExt cx="0" cy="0"/>
        </a:xfrm>
      </p:grpSpPr>
      <p:sp>
        <p:nvSpPr>
          <p:cNvPr id="2" name="Title"/>
          <p:cNvSpPr/>
          <p:nvPr/>
        </p:nvSpPr>
        <p:spPr>
          <a:xfrm>
            <a:off x="457200" y="228600"/>
            <a:ext cx="8229600" cy="502920"/>
          </a:xfrm>
          <a:prstGeom prst="rect">
            <a:avLst/>
          </a:prstGeom>
          <a:noFill/>
          <a:ln/>
        </p:spPr>
        <p:txBody>
          <a:bodyPr wrap="square" rtlCol="0" anchor="ctr"/>
          <a:lstStyle/>
          <a:p>
            <a:pPr marL="0" indent="0" algn="l">
              <a:buNone/>
            </a:pPr>
            <a:r>
              <a:rPr lang="en-US" sz="2600" b="1" dirty="0">
                <a:solidFill>
                  <a:srgbClr val="0D1B2A"/>
                </a:solidFill>
                <a:latin typeface="Calibri" pitchFamily="34" charset="0"/>
                <a:ea typeface="Calibri" pitchFamily="34" charset="-122"/>
                <a:cs typeface="Calibri" pitchFamily="34" charset="-120"/>
              </a:rPr>
              <a:t>Cohort Summary Statistics</a:t>
            </a:r>
          </a:p>
        </p:txBody>
      </p:sp>
      <p:pic>
        <p:nvPicPr>
          <p:cNvPr id="3" name="Figure"/>
          <p:cNvPicPr>
            <a:picLocks noChangeAspect="1"/>
          </p:cNvPicPr>
          <p:nvPr/>
        </p:nvPicPr>
        <p:blipFill>
          <a:blip r:embed="rId2"/>
          <a:stretch>
            <a:fillRect/>
          </a:stretch>
        </p:blipFill>
        <p:spPr>
          <a:xfrm>
            <a:off x="472000" y="875482"/>
            <a:ext cx="8200000" cy="2909035"/>
          </a:xfrm>
          <a:prstGeom prst="rect">
            <a:avLst/>
          </a:prstGeom>
        </p:spPr>
      </p:pic>
      <p:sp>
        <p:nvSpPr>
          <p:cNvPr id="4" name="Accent"/>
          <p:cNvSpPr/>
          <p:nvPr/>
        </p:nvSpPr>
        <p:spPr>
          <a:xfrm>
            <a:off x="274320" y="3910000"/>
            <a:ext cx="109728" cy="470000"/>
          </a:xfrm>
          <a:prstGeom prst="rect">
            <a:avLst/>
          </a:prstGeom>
          <a:solidFill>
            <a:srgbClr val="1E6091"/>
          </a:solidFill>
        </p:spPr>
        <p:txBody>
          <a:bodyPr/>
          <a:lstStyle/>
          <a:p>
            <a:endParaRPr lang="en-GB"/>
          </a:p>
        </p:txBody>
      </p:sp>
      <p:sp>
        <p:nvSpPr>
          <p:cNvPr id="5" name="Caption"/>
          <p:cNvSpPr/>
          <p:nvPr/>
        </p:nvSpPr>
        <p:spPr>
          <a:xfrm>
            <a:off x="470000" y="3910000"/>
            <a:ext cx="8400000" cy="950000"/>
          </a:xfrm>
          <a:prstGeom prst="rect">
            <a:avLst/>
          </a:prstGeom>
          <a:noFill/>
          <a:ln/>
        </p:spPr>
        <p:txBody>
          <a:bodyPr wrap="square" rtlCol="0" anchor="t"/>
          <a:lstStyle/>
          <a:p>
            <a:pPr marL="0" indent="0" algn="l">
              <a:buNone/>
            </a:pPr>
            <a:r>
              <a:rPr lang="en-US" sz="1100" i="1" dirty="0">
                <a:solidFill>
                  <a:srgbClr val="5A6570"/>
                </a:solidFill>
                <a:latin typeface="Calibri" pitchFamily="34" charset="0"/>
                <a:ea typeface="Calibri" pitchFamily="34" charset="-122"/>
                <a:cs typeface="Calibri" pitchFamily="34" charset="-120"/>
              </a:rPr>
              <a:t>Cohorts after deduplication and exclusion of records with missing survival time. Stomach has roughly double the death rate of colorectal and a median observed time around 30% shorter, despite near-identical age profiles across all three.</a:t>
            </a:r>
          </a:p>
        </p:txBody>
      </p:sp>
      <p:sp>
        <p:nvSpPr>
          <p:cNvPr id="55" name="slidenum"/>
          <p:cNvSpPr>
            <a:spLocks noGrp="1"/>
          </p:cNvSpPr>
          <p:nvPr/>
        </p:nvSpPr>
        <p:spPr>
          <a:xfrm>
            <a:off x="8469680" y="4790000"/>
            <a:ext cx="400000" cy="230000"/>
          </a:xfrm>
          <a:prstGeom prst="rect">
            <a:avLst/>
          </a:prstGeom>
          <a:noFill/>
        </p:spPr>
        <p:txBody>
          <a:bodyPr wrap="none" lIns="0" tIns="0" rIns="0" bIns="0" anchor="ctr"/>
          <a:lstStyle/>
          <a:p>
            <a:pPr algn="r"/>
            <a:r>
              <a:rPr lang="en-US" sz="1000" b="0">
                <a:solidFill>
                  <a:srgbClr val="808080"/>
                </a:solidFill>
              </a:rPr>
              <a:t>7</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HAP beeswarm">
    <p:bg>
      <p:bgPr>
        <a:solidFill>
          <a:srgbClr val="F1F3F4"/>
        </a:solidFill>
        <a:effectLst/>
      </p:bgPr>
    </p:bg>
    <p:spTree>
      <p:nvGrpSpPr>
        <p:cNvPr id="1" name=""/>
        <p:cNvGrpSpPr/>
        <p:nvPr/>
      </p:nvGrpSpPr>
      <p:grpSpPr>
        <a:xfrm>
          <a:off x="0" y="0"/>
          <a:ext cx="0" cy="0"/>
          <a:chOff x="0" y="0"/>
          <a:chExt cx="0" cy="0"/>
        </a:xfrm>
      </p:grpSpPr>
      <p:sp>
        <p:nvSpPr>
          <p:cNvPr id="2" name="Title"/>
          <p:cNvSpPr/>
          <p:nvPr/>
        </p:nvSpPr>
        <p:spPr>
          <a:xfrm>
            <a:off x="457200" y="228600"/>
            <a:ext cx="8229600" cy="502920"/>
          </a:xfrm>
          <a:prstGeom prst="rect">
            <a:avLst/>
          </a:prstGeom>
          <a:noFill/>
          <a:ln/>
        </p:spPr>
        <p:txBody>
          <a:bodyPr wrap="square" rtlCol="0" anchor="ctr"/>
          <a:lstStyle/>
          <a:p>
            <a:pPr marL="0" indent="0" algn="l">
              <a:buNone/>
            </a:pPr>
            <a:r>
              <a:rPr lang="en-US" sz="2600" b="1" dirty="0">
                <a:solidFill>
                  <a:srgbClr val="0D1B2A"/>
                </a:solidFill>
                <a:latin typeface="Calibri" pitchFamily="34" charset="0"/>
                <a:ea typeface="Calibri" pitchFamily="34" charset="-122"/>
                <a:cs typeface="Calibri" pitchFamily="34" charset="-120"/>
              </a:rPr>
              <a:t>Full Cox Estimates: Colon (COAD)</a:t>
            </a:r>
          </a:p>
        </p:txBody>
      </p:sp>
      <p:pic>
        <p:nvPicPr>
          <p:cNvPr id="3" name="Figure"/>
          <p:cNvPicPr>
            <a:picLocks noChangeAspect="1"/>
          </p:cNvPicPr>
          <p:nvPr/>
        </p:nvPicPr>
        <p:blipFill>
          <a:blip r:embed="rId2"/>
          <a:stretch>
            <a:fillRect/>
          </a:stretch>
        </p:blipFill>
        <p:spPr>
          <a:xfrm>
            <a:off x="2020322" y="800000"/>
            <a:ext cx="5103355" cy="3060000"/>
          </a:xfrm>
          <a:prstGeom prst="rect">
            <a:avLst/>
          </a:prstGeom>
        </p:spPr>
      </p:pic>
      <p:sp>
        <p:nvSpPr>
          <p:cNvPr id="4" name="Accent"/>
          <p:cNvSpPr/>
          <p:nvPr/>
        </p:nvSpPr>
        <p:spPr>
          <a:xfrm>
            <a:off x="274320" y="3910000"/>
            <a:ext cx="109728" cy="470000"/>
          </a:xfrm>
          <a:prstGeom prst="rect">
            <a:avLst/>
          </a:prstGeom>
          <a:solidFill>
            <a:srgbClr val="1E6091"/>
          </a:solidFill>
        </p:spPr>
        <p:txBody>
          <a:bodyPr/>
          <a:lstStyle/>
          <a:p>
            <a:endParaRPr lang="en-GB"/>
          </a:p>
        </p:txBody>
      </p:sp>
      <p:sp>
        <p:nvSpPr>
          <p:cNvPr id="5" name="Caption"/>
          <p:cNvSpPr/>
          <p:nvPr/>
        </p:nvSpPr>
        <p:spPr>
          <a:xfrm>
            <a:off x="470000" y="3910000"/>
            <a:ext cx="8400000" cy="950000"/>
          </a:xfrm>
          <a:prstGeom prst="rect">
            <a:avLst/>
          </a:prstGeom>
          <a:noFill/>
          <a:ln/>
        </p:spPr>
        <p:txBody>
          <a:bodyPr wrap="square" rtlCol="0" anchor="t"/>
          <a:lstStyle/>
          <a:p>
            <a:pPr marL="0" indent="0" algn="l">
              <a:buNone/>
            </a:pPr>
            <a:r>
              <a:rPr lang="en-US" sz="1100" i="1" dirty="0">
                <a:solidFill>
                  <a:srgbClr val="5A6570"/>
                </a:solidFill>
                <a:latin typeface="Calibri" pitchFamily="34" charset="0"/>
                <a:ea typeface="Calibri" pitchFamily="34" charset="-122"/>
                <a:cs typeface="Calibri" pitchFamily="34" charset="-120"/>
              </a:rPr>
              <a:t>Every covariate in the penalised Cox model, with 95% confidence intervals. Stage IV (HR 3.18) and residual disease (HR 1.91) are significant, and age is borderline. The race and ethnicity terms rest on very small subgroups and are not interpreted.</a:t>
            </a:r>
          </a:p>
        </p:txBody>
      </p:sp>
      <p:sp>
        <p:nvSpPr>
          <p:cNvPr id="55" name="slidenum"/>
          <p:cNvSpPr>
            <a:spLocks noGrp="1"/>
          </p:cNvSpPr>
          <p:nvPr/>
        </p:nvSpPr>
        <p:spPr>
          <a:xfrm>
            <a:off x="8469680" y="4790000"/>
            <a:ext cx="400000" cy="230000"/>
          </a:xfrm>
          <a:prstGeom prst="rect">
            <a:avLst/>
          </a:prstGeom>
          <a:noFill/>
        </p:spPr>
        <p:txBody>
          <a:bodyPr wrap="none" lIns="0" tIns="0" rIns="0" bIns="0" anchor="ctr"/>
          <a:lstStyle/>
          <a:p>
            <a:pPr algn="r"/>
            <a:r>
              <a:rPr lang="en-US" sz="1000" b="0">
                <a:solidFill>
                  <a:srgbClr val="808080"/>
                </a:solidFill>
              </a:rPr>
              <a:t>8</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HAP beeswarm">
    <p:bg>
      <p:bgPr>
        <a:solidFill>
          <a:srgbClr val="F1F3F4"/>
        </a:solidFill>
        <a:effectLst/>
      </p:bgPr>
    </p:bg>
    <p:spTree>
      <p:nvGrpSpPr>
        <p:cNvPr id="1" name=""/>
        <p:cNvGrpSpPr/>
        <p:nvPr/>
      </p:nvGrpSpPr>
      <p:grpSpPr>
        <a:xfrm>
          <a:off x="0" y="0"/>
          <a:ext cx="0" cy="0"/>
          <a:chOff x="0" y="0"/>
          <a:chExt cx="0" cy="0"/>
        </a:xfrm>
      </p:grpSpPr>
      <p:sp>
        <p:nvSpPr>
          <p:cNvPr id="2" name="Title"/>
          <p:cNvSpPr/>
          <p:nvPr/>
        </p:nvSpPr>
        <p:spPr>
          <a:xfrm>
            <a:off x="457200" y="228600"/>
            <a:ext cx="8229600" cy="502920"/>
          </a:xfrm>
          <a:prstGeom prst="rect">
            <a:avLst/>
          </a:prstGeom>
          <a:noFill/>
          <a:ln/>
        </p:spPr>
        <p:txBody>
          <a:bodyPr wrap="square" rtlCol="0" anchor="ctr"/>
          <a:lstStyle/>
          <a:p>
            <a:pPr marL="0" indent="0" algn="l">
              <a:buNone/>
            </a:pPr>
            <a:r>
              <a:rPr lang="en-US" sz="2600" b="1" dirty="0">
                <a:solidFill>
                  <a:srgbClr val="0D1B2A"/>
                </a:solidFill>
                <a:latin typeface="Calibri" pitchFamily="34" charset="0"/>
                <a:ea typeface="Calibri" pitchFamily="34" charset="-122"/>
                <a:cs typeface="Calibri" pitchFamily="34" charset="-120"/>
              </a:rPr>
              <a:t>Full Cox Estimates: Rectum (READ)</a:t>
            </a:r>
          </a:p>
        </p:txBody>
      </p:sp>
      <p:pic>
        <p:nvPicPr>
          <p:cNvPr id="3" name="Figure"/>
          <p:cNvPicPr>
            <a:picLocks noChangeAspect="1"/>
          </p:cNvPicPr>
          <p:nvPr/>
        </p:nvPicPr>
        <p:blipFill>
          <a:blip r:embed="rId2"/>
          <a:stretch>
            <a:fillRect/>
          </a:stretch>
        </p:blipFill>
        <p:spPr>
          <a:xfrm>
            <a:off x="1840627" y="800000"/>
            <a:ext cx="5462746" cy="3060000"/>
          </a:xfrm>
          <a:prstGeom prst="rect">
            <a:avLst/>
          </a:prstGeom>
        </p:spPr>
      </p:pic>
      <p:sp>
        <p:nvSpPr>
          <p:cNvPr id="4" name="Accent"/>
          <p:cNvSpPr/>
          <p:nvPr/>
        </p:nvSpPr>
        <p:spPr>
          <a:xfrm>
            <a:off x="274320" y="3910000"/>
            <a:ext cx="109728" cy="470000"/>
          </a:xfrm>
          <a:prstGeom prst="rect">
            <a:avLst/>
          </a:prstGeom>
          <a:solidFill>
            <a:srgbClr val="1E6091"/>
          </a:solidFill>
        </p:spPr>
        <p:txBody>
          <a:bodyPr/>
          <a:lstStyle/>
          <a:p>
            <a:endParaRPr lang="en-GB"/>
          </a:p>
        </p:txBody>
      </p:sp>
      <p:sp>
        <p:nvSpPr>
          <p:cNvPr id="5" name="Caption"/>
          <p:cNvSpPr/>
          <p:nvPr/>
        </p:nvSpPr>
        <p:spPr>
          <a:xfrm>
            <a:off x="470000" y="3910000"/>
            <a:ext cx="8400000" cy="950000"/>
          </a:xfrm>
          <a:prstGeom prst="rect">
            <a:avLst/>
          </a:prstGeom>
          <a:noFill/>
          <a:ln/>
        </p:spPr>
        <p:txBody>
          <a:bodyPr wrap="square" rtlCol="0" anchor="t"/>
          <a:lstStyle/>
          <a:p>
            <a:pPr marL="0" indent="0" algn="l">
              <a:buNone/>
            </a:pPr>
            <a:r>
              <a:rPr lang="en-US" sz="1100" i="1" dirty="0">
                <a:solidFill>
                  <a:srgbClr val="5A6570"/>
                </a:solidFill>
                <a:latin typeface="Calibri" pitchFamily="34" charset="0"/>
                <a:ea typeface="Calibri" pitchFamily="34" charset="-122"/>
                <a:cs typeface="Calibri" pitchFamily="34" charset="-120"/>
              </a:rPr>
              <a:t>Only Stage IV (HR 2.56) and age reach significance. This cohort has 24 deaths supporting roughly fifteen coefficients, well below the ten-events-per-coefficient guideline, so the estimates are heavily regularised and read as indicative rather than definitive.</a:t>
            </a:r>
          </a:p>
        </p:txBody>
      </p:sp>
      <p:sp>
        <p:nvSpPr>
          <p:cNvPr id="55" name="slidenum"/>
          <p:cNvSpPr>
            <a:spLocks noGrp="1"/>
          </p:cNvSpPr>
          <p:nvPr/>
        </p:nvSpPr>
        <p:spPr>
          <a:xfrm>
            <a:off x="8469680" y="4790000"/>
            <a:ext cx="400000" cy="230000"/>
          </a:xfrm>
          <a:prstGeom prst="rect">
            <a:avLst/>
          </a:prstGeom>
          <a:noFill/>
        </p:spPr>
        <p:txBody>
          <a:bodyPr wrap="none" lIns="0" tIns="0" rIns="0" bIns="0" anchor="ctr"/>
          <a:lstStyle/>
          <a:p>
            <a:pPr algn="r"/>
            <a:r>
              <a:rPr lang="en-US" sz="1000" b="0">
                <a:solidFill>
                  <a:srgbClr val="808080"/>
                </a:solidFill>
              </a:rPr>
              <a:t>9</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HAP beeswarm">
    <p:bg>
      <p:bgPr>
        <a:solidFill>
          <a:srgbClr val="F1F3F4"/>
        </a:solidFill>
        <a:effectLst/>
      </p:bgPr>
    </p:bg>
    <p:spTree>
      <p:nvGrpSpPr>
        <p:cNvPr id="1" name=""/>
        <p:cNvGrpSpPr/>
        <p:nvPr/>
      </p:nvGrpSpPr>
      <p:grpSpPr>
        <a:xfrm>
          <a:off x="0" y="0"/>
          <a:ext cx="0" cy="0"/>
          <a:chOff x="0" y="0"/>
          <a:chExt cx="0" cy="0"/>
        </a:xfrm>
      </p:grpSpPr>
      <p:sp>
        <p:nvSpPr>
          <p:cNvPr id="2" name="Title"/>
          <p:cNvSpPr/>
          <p:nvPr/>
        </p:nvSpPr>
        <p:spPr>
          <a:xfrm>
            <a:off x="457200" y="228600"/>
            <a:ext cx="8229600" cy="502920"/>
          </a:xfrm>
          <a:prstGeom prst="rect">
            <a:avLst/>
          </a:prstGeom>
          <a:noFill/>
          <a:ln/>
        </p:spPr>
        <p:txBody>
          <a:bodyPr wrap="square" rtlCol="0" anchor="ctr"/>
          <a:lstStyle/>
          <a:p>
            <a:pPr marL="0" indent="0" algn="l">
              <a:buNone/>
            </a:pPr>
            <a:r>
              <a:rPr lang="en-US" sz="2600" b="1" dirty="0">
                <a:solidFill>
                  <a:srgbClr val="0D1B2A"/>
                </a:solidFill>
                <a:latin typeface="Calibri" pitchFamily="34" charset="0"/>
                <a:ea typeface="Calibri" pitchFamily="34" charset="-122"/>
                <a:cs typeface="Calibri" pitchFamily="34" charset="-120"/>
              </a:rPr>
              <a:t>Full Cox Estimates: Stomach (STAD)</a:t>
            </a:r>
          </a:p>
        </p:txBody>
      </p:sp>
      <p:pic>
        <p:nvPicPr>
          <p:cNvPr id="3" name="Figure"/>
          <p:cNvPicPr>
            <a:picLocks noChangeAspect="1"/>
          </p:cNvPicPr>
          <p:nvPr/>
        </p:nvPicPr>
        <p:blipFill>
          <a:blip r:embed="rId2"/>
          <a:stretch>
            <a:fillRect/>
          </a:stretch>
        </p:blipFill>
        <p:spPr>
          <a:xfrm>
            <a:off x="1840627" y="800000"/>
            <a:ext cx="5462746" cy="3060000"/>
          </a:xfrm>
          <a:prstGeom prst="rect">
            <a:avLst/>
          </a:prstGeom>
        </p:spPr>
      </p:pic>
      <p:sp>
        <p:nvSpPr>
          <p:cNvPr id="4" name="Accent"/>
          <p:cNvSpPr/>
          <p:nvPr/>
        </p:nvSpPr>
        <p:spPr>
          <a:xfrm>
            <a:off x="274320" y="3910000"/>
            <a:ext cx="109728" cy="470000"/>
          </a:xfrm>
          <a:prstGeom prst="rect">
            <a:avLst/>
          </a:prstGeom>
          <a:solidFill>
            <a:srgbClr val="1E6091"/>
          </a:solidFill>
        </p:spPr>
        <p:txBody>
          <a:bodyPr/>
          <a:lstStyle/>
          <a:p>
            <a:endParaRPr lang="en-GB"/>
          </a:p>
        </p:txBody>
      </p:sp>
      <p:sp>
        <p:nvSpPr>
          <p:cNvPr id="5" name="Caption"/>
          <p:cNvSpPr/>
          <p:nvPr/>
        </p:nvSpPr>
        <p:spPr>
          <a:xfrm>
            <a:off x="470000" y="3910000"/>
            <a:ext cx="8400000" cy="950000"/>
          </a:xfrm>
          <a:prstGeom prst="rect">
            <a:avLst/>
          </a:prstGeom>
          <a:noFill/>
          <a:ln/>
        </p:spPr>
        <p:txBody>
          <a:bodyPr wrap="square" rtlCol="0" anchor="t"/>
          <a:lstStyle/>
          <a:p>
            <a:pPr marL="0" indent="0" algn="l">
              <a:buNone/>
            </a:pPr>
            <a:r>
              <a:rPr lang="en-US" sz="1100" i="1" dirty="0">
                <a:solidFill>
                  <a:srgbClr val="5A6570"/>
                </a:solidFill>
                <a:latin typeface="Calibri" pitchFamily="34" charset="0"/>
                <a:ea typeface="Calibri" pitchFamily="34" charset="-122"/>
                <a:cs typeface="Calibri" pitchFamily="34" charset="-120"/>
              </a:rPr>
              <a:t>Stage III and IV, residual disease and treatment received are all significant. The apparently protective ethnicity term rests on five patients, so it is a small-sample artefact rather than a finding, and treatment is confounded by indication.</a:t>
            </a:r>
          </a:p>
        </p:txBody>
      </p:sp>
      <p:sp>
        <p:nvSpPr>
          <p:cNvPr id="55" name="slidenum"/>
          <p:cNvSpPr>
            <a:spLocks noGrp="1"/>
          </p:cNvSpPr>
          <p:nvPr/>
        </p:nvSpPr>
        <p:spPr>
          <a:xfrm>
            <a:off x="8469680" y="4790000"/>
            <a:ext cx="400000" cy="230000"/>
          </a:xfrm>
          <a:prstGeom prst="rect">
            <a:avLst/>
          </a:prstGeom>
          <a:noFill/>
        </p:spPr>
        <p:txBody>
          <a:bodyPr wrap="none" lIns="0" tIns="0" rIns="0" bIns="0" anchor="ctr"/>
          <a:lstStyle/>
          <a:p>
            <a:pPr algn="r"/>
            <a:r>
              <a:rPr lang="en-US" sz="1000" b="0">
                <a:solidFill>
                  <a:srgbClr val="808080"/>
                </a:solidFill>
              </a:rPr>
              <a:t>10</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HAP beeswarm">
    <p:bg>
      <p:bgPr>
        <a:solidFill>
          <a:srgbClr val="F1F3F4"/>
        </a:solidFill>
        <a:effectLst/>
      </p:bgPr>
    </p:bg>
    <p:spTree>
      <p:nvGrpSpPr>
        <p:cNvPr id="1" name=""/>
        <p:cNvGrpSpPr/>
        <p:nvPr/>
      </p:nvGrpSpPr>
      <p:grpSpPr>
        <a:xfrm>
          <a:off x="0" y="0"/>
          <a:ext cx="0" cy="0"/>
          <a:chOff x="0" y="0"/>
          <a:chExt cx="0" cy="0"/>
        </a:xfrm>
      </p:grpSpPr>
      <p:sp>
        <p:nvSpPr>
          <p:cNvPr id="2" name="Title"/>
          <p:cNvSpPr/>
          <p:nvPr/>
        </p:nvSpPr>
        <p:spPr>
          <a:xfrm>
            <a:off x="457200" y="228600"/>
            <a:ext cx="8229600" cy="502920"/>
          </a:xfrm>
          <a:prstGeom prst="rect">
            <a:avLst/>
          </a:prstGeom>
          <a:noFill/>
          <a:ln/>
        </p:spPr>
        <p:txBody>
          <a:bodyPr wrap="square" rtlCol="0" anchor="ctr"/>
          <a:lstStyle/>
          <a:p>
            <a:pPr marL="0" indent="0" algn="l">
              <a:buNone/>
            </a:pPr>
            <a:r>
              <a:rPr lang="en-US" sz="2600" b="1" dirty="0">
                <a:solidFill>
                  <a:srgbClr val="0D1B2A"/>
                </a:solidFill>
                <a:latin typeface="Calibri" pitchFamily="34" charset="0"/>
                <a:ea typeface="Calibri" pitchFamily="34" charset="-122"/>
                <a:cs typeface="Calibri" pitchFamily="34" charset="-120"/>
              </a:rPr>
              <a:t>Adjusted Between-Cancer Comparison</a:t>
            </a:r>
          </a:p>
        </p:txBody>
      </p:sp>
      <p:pic>
        <p:nvPicPr>
          <p:cNvPr id="3" name="Figure"/>
          <p:cNvPicPr>
            <a:picLocks noChangeAspect="1"/>
          </p:cNvPicPr>
          <p:nvPr/>
        </p:nvPicPr>
        <p:blipFill>
          <a:blip r:embed="rId2"/>
          <a:stretch>
            <a:fillRect/>
          </a:stretch>
        </p:blipFill>
        <p:spPr>
          <a:xfrm>
            <a:off x="472000" y="1138523"/>
            <a:ext cx="8200000" cy="2382953"/>
          </a:xfrm>
          <a:prstGeom prst="rect">
            <a:avLst/>
          </a:prstGeom>
        </p:spPr>
      </p:pic>
      <p:sp>
        <p:nvSpPr>
          <p:cNvPr id="4" name="Accent"/>
          <p:cNvSpPr/>
          <p:nvPr/>
        </p:nvSpPr>
        <p:spPr>
          <a:xfrm>
            <a:off x="274320" y="3910000"/>
            <a:ext cx="109728" cy="470000"/>
          </a:xfrm>
          <a:prstGeom prst="rect">
            <a:avLst/>
          </a:prstGeom>
          <a:solidFill>
            <a:srgbClr val="1E6091"/>
          </a:solidFill>
        </p:spPr>
        <p:txBody>
          <a:bodyPr/>
          <a:lstStyle/>
          <a:p>
            <a:endParaRPr lang="en-GB"/>
          </a:p>
        </p:txBody>
      </p:sp>
      <p:sp>
        <p:nvSpPr>
          <p:cNvPr id="5" name="Caption"/>
          <p:cNvSpPr/>
          <p:nvPr/>
        </p:nvSpPr>
        <p:spPr>
          <a:xfrm>
            <a:off x="470000" y="3910000"/>
            <a:ext cx="8400000" cy="950000"/>
          </a:xfrm>
          <a:prstGeom prst="rect">
            <a:avLst/>
          </a:prstGeom>
          <a:noFill/>
          <a:ln/>
        </p:spPr>
        <p:txBody>
          <a:bodyPr wrap="square" rtlCol="0" anchor="t"/>
          <a:lstStyle/>
          <a:p>
            <a:pPr marL="0" indent="0" algn="l">
              <a:buNone/>
            </a:pPr>
            <a:r>
              <a:rPr lang="en-US" sz="1100" i="1" dirty="0">
                <a:solidFill>
                  <a:srgbClr val="5A6570"/>
                </a:solidFill>
                <a:latin typeface="Calibri" pitchFamily="34" charset="0"/>
                <a:ea typeface="Calibri" pitchFamily="34" charset="-122"/>
                <a:cs typeface="Calibri" pitchFamily="34" charset="-120"/>
              </a:rPr>
              <a:t>Pooling the cohorts and adjusting for age, stage and sex, colon has a hazard ratio of 0.36 against stomach and colorectal 0.33. Stomach is roughly three times worse stage-for-stage, so the excess is intrinsic rather than a consequence of later diagnosis.</a:t>
            </a:r>
          </a:p>
        </p:txBody>
      </p:sp>
      <p:sp>
        <p:nvSpPr>
          <p:cNvPr id="55" name="slidenum"/>
          <p:cNvSpPr>
            <a:spLocks noGrp="1"/>
          </p:cNvSpPr>
          <p:nvPr/>
        </p:nvSpPr>
        <p:spPr>
          <a:xfrm>
            <a:off x="8469680" y="4790000"/>
            <a:ext cx="400000" cy="230000"/>
          </a:xfrm>
          <a:prstGeom prst="rect">
            <a:avLst/>
          </a:prstGeom>
          <a:noFill/>
        </p:spPr>
        <p:txBody>
          <a:bodyPr wrap="none" lIns="0" tIns="0" rIns="0" bIns="0" anchor="ctr"/>
          <a:lstStyle/>
          <a:p>
            <a:pPr algn="r"/>
            <a:r>
              <a:rPr lang="en-US" sz="1000" b="0">
                <a:solidFill>
                  <a:srgbClr val="808080"/>
                </a:solidFill>
              </a:rPr>
              <a:t>11</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HAP beeswarm">
    <p:bg>
      <p:bgPr>
        <a:solidFill>
          <a:srgbClr val="F1F3F4"/>
        </a:solidFill>
        <a:effectLst/>
      </p:bgPr>
    </p:bg>
    <p:spTree>
      <p:nvGrpSpPr>
        <p:cNvPr id="1" name=""/>
        <p:cNvGrpSpPr/>
        <p:nvPr/>
      </p:nvGrpSpPr>
      <p:grpSpPr>
        <a:xfrm>
          <a:off x="0" y="0"/>
          <a:ext cx="0" cy="0"/>
          <a:chOff x="0" y="0"/>
          <a:chExt cx="0" cy="0"/>
        </a:xfrm>
      </p:grpSpPr>
      <p:sp>
        <p:nvSpPr>
          <p:cNvPr id="2" name="Title"/>
          <p:cNvSpPr/>
          <p:nvPr/>
        </p:nvSpPr>
        <p:spPr>
          <a:xfrm>
            <a:off x="457200" y="228600"/>
            <a:ext cx="8229600" cy="502920"/>
          </a:xfrm>
          <a:prstGeom prst="rect">
            <a:avLst/>
          </a:prstGeom>
          <a:noFill/>
          <a:ln/>
        </p:spPr>
        <p:txBody>
          <a:bodyPr wrap="square" rtlCol="0" anchor="ctr"/>
          <a:lstStyle/>
          <a:p>
            <a:pPr marL="0" indent="0" algn="l">
              <a:buNone/>
            </a:pPr>
            <a:r>
              <a:rPr lang="en-US" sz="2600" b="1" dirty="0">
                <a:solidFill>
                  <a:srgbClr val="0D1B2A"/>
                </a:solidFill>
                <a:latin typeface="Calibri" pitchFamily="34" charset="0"/>
                <a:ea typeface="Calibri" pitchFamily="34" charset="-122"/>
                <a:cs typeface="Calibri" pitchFamily="34" charset="-120"/>
              </a:rPr>
              <a:t>Invariance of Predictors Across Cancers</a:t>
            </a:r>
          </a:p>
        </p:txBody>
      </p:sp>
      <p:pic>
        <p:nvPicPr>
          <p:cNvPr id="3" name="Figure"/>
          <p:cNvPicPr>
            <a:picLocks noChangeAspect="1"/>
          </p:cNvPicPr>
          <p:nvPr/>
        </p:nvPicPr>
        <p:blipFill>
          <a:blip r:embed="rId2"/>
          <a:stretch>
            <a:fillRect/>
          </a:stretch>
        </p:blipFill>
        <p:spPr>
          <a:xfrm>
            <a:off x="472000" y="1611698"/>
            <a:ext cx="8200000" cy="1436604"/>
          </a:xfrm>
          <a:prstGeom prst="rect">
            <a:avLst/>
          </a:prstGeom>
        </p:spPr>
      </p:pic>
      <p:sp>
        <p:nvSpPr>
          <p:cNvPr id="4" name="Accent"/>
          <p:cNvSpPr/>
          <p:nvPr/>
        </p:nvSpPr>
        <p:spPr>
          <a:xfrm>
            <a:off x="274320" y="3910000"/>
            <a:ext cx="109728" cy="470000"/>
          </a:xfrm>
          <a:prstGeom prst="rect">
            <a:avLst/>
          </a:prstGeom>
          <a:solidFill>
            <a:srgbClr val="1E6091"/>
          </a:solidFill>
        </p:spPr>
        <p:txBody>
          <a:bodyPr/>
          <a:lstStyle/>
          <a:p>
            <a:endParaRPr lang="en-GB"/>
          </a:p>
        </p:txBody>
      </p:sp>
      <p:sp>
        <p:nvSpPr>
          <p:cNvPr id="5" name="Caption"/>
          <p:cNvSpPr/>
          <p:nvPr/>
        </p:nvSpPr>
        <p:spPr>
          <a:xfrm>
            <a:off x="470000" y="3910000"/>
            <a:ext cx="8400000" cy="950000"/>
          </a:xfrm>
          <a:prstGeom prst="rect">
            <a:avLst/>
          </a:prstGeom>
          <a:noFill/>
          <a:ln/>
        </p:spPr>
        <p:txBody>
          <a:bodyPr wrap="square" rtlCol="0" anchor="t"/>
          <a:lstStyle/>
          <a:p>
            <a:pPr marL="0" indent="0" algn="l">
              <a:buNone/>
            </a:pPr>
            <a:r>
              <a:rPr lang="en-US" sz="1100" i="1" dirty="0">
                <a:solidFill>
                  <a:srgbClr val="5A6570"/>
                </a:solidFill>
                <a:latin typeface="Calibri" pitchFamily="34" charset="0"/>
                <a:ea typeface="Calibri" pitchFamily="34" charset="-122"/>
                <a:cs typeface="Calibri" pitchFamily="34" charset="-120"/>
              </a:rPr>
              <a:t>Each covariate fitted separately in colorectal and stomach, with a likelihood-ratio test on the covariate-by-cancer interaction. All four interactions are non-significant, so the effects are invariant across the two cancers. This is the mechanism behind the transfer.</a:t>
            </a:r>
          </a:p>
        </p:txBody>
      </p:sp>
      <p:sp>
        <p:nvSpPr>
          <p:cNvPr id="55" name="slidenum"/>
          <p:cNvSpPr>
            <a:spLocks noGrp="1"/>
          </p:cNvSpPr>
          <p:nvPr/>
        </p:nvSpPr>
        <p:spPr>
          <a:xfrm>
            <a:off x="8469680" y="4790000"/>
            <a:ext cx="400000" cy="230000"/>
          </a:xfrm>
          <a:prstGeom prst="rect">
            <a:avLst/>
          </a:prstGeom>
          <a:noFill/>
        </p:spPr>
        <p:txBody>
          <a:bodyPr wrap="none" lIns="0" tIns="0" rIns="0" bIns="0" anchor="ctr"/>
          <a:lstStyle/>
          <a:p>
            <a:pPr algn="r"/>
            <a:r>
              <a:rPr lang="en-US" sz="1000" b="0">
                <a:solidFill>
                  <a:srgbClr val="808080"/>
                </a:solidFill>
              </a:rPr>
              <a:t>12</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HAP beeswarm">
    <p:bg>
      <p:bgPr>
        <a:solidFill>
          <a:srgbClr val="F1F3F4"/>
        </a:solidFill>
        <a:effectLst/>
      </p:bgPr>
    </p:bg>
    <p:spTree>
      <p:nvGrpSpPr>
        <p:cNvPr id="1" name=""/>
        <p:cNvGrpSpPr/>
        <p:nvPr/>
      </p:nvGrpSpPr>
      <p:grpSpPr>
        <a:xfrm>
          <a:off x="0" y="0"/>
          <a:ext cx="0" cy="0"/>
          <a:chOff x="0" y="0"/>
          <a:chExt cx="0" cy="0"/>
        </a:xfrm>
      </p:grpSpPr>
      <p:sp>
        <p:nvSpPr>
          <p:cNvPr id="2" name="Title"/>
          <p:cNvSpPr/>
          <p:nvPr/>
        </p:nvSpPr>
        <p:spPr>
          <a:xfrm>
            <a:off x="457200" y="228600"/>
            <a:ext cx="8229600" cy="502920"/>
          </a:xfrm>
          <a:prstGeom prst="rect">
            <a:avLst/>
          </a:prstGeom>
          <a:noFill/>
          <a:ln/>
        </p:spPr>
        <p:txBody>
          <a:bodyPr wrap="square" rtlCol="0" anchor="ctr"/>
          <a:lstStyle/>
          <a:p>
            <a:pPr marL="0" indent="0" algn="l">
              <a:buNone/>
            </a:pPr>
            <a:r>
              <a:rPr lang="en-US" sz="2600" b="1" dirty="0">
                <a:solidFill>
                  <a:srgbClr val="0D1B2A"/>
                </a:solidFill>
                <a:latin typeface="Calibri" pitchFamily="34" charset="0"/>
                <a:ea typeface="Calibri" pitchFamily="34" charset="-122"/>
                <a:cs typeface="Calibri" pitchFamily="34" charset="-120"/>
              </a:rPr>
              <a:t>Model Performance: Forest vs Cox</a:t>
            </a:r>
          </a:p>
        </p:txBody>
      </p:sp>
      <p:pic>
        <p:nvPicPr>
          <p:cNvPr id="3" name="Figure"/>
          <p:cNvPicPr>
            <a:picLocks noChangeAspect="1"/>
          </p:cNvPicPr>
          <p:nvPr/>
        </p:nvPicPr>
        <p:blipFill>
          <a:blip r:embed="rId2"/>
          <a:stretch>
            <a:fillRect/>
          </a:stretch>
        </p:blipFill>
        <p:spPr>
          <a:xfrm>
            <a:off x="472000" y="1837744"/>
            <a:ext cx="8200000" cy="984511"/>
          </a:xfrm>
          <a:prstGeom prst="rect">
            <a:avLst/>
          </a:prstGeom>
        </p:spPr>
      </p:pic>
      <p:sp>
        <p:nvSpPr>
          <p:cNvPr id="4" name="Accent"/>
          <p:cNvSpPr/>
          <p:nvPr/>
        </p:nvSpPr>
        <p:spPr>
          <a:xfrm>
            <a:off x="274320" y="3910000"/>
            <a:ext cx="109728" cy="470000"/>
          </a:xfrm>
          <a:prstGeom prst="rect">
            <a:avLst/>
          </a:prstGeom>
          <a:solidFill>
            <a:srgbClr val="1E6091"/>
          </a:solidFill>
        </p:spPr>
        <p:txBody>
          <a:bodyPr/>
          <a:lstStyle/>
          <a:p>
            <a:endParaRPr lang="en-GB"/>
          </a:p>
        </p:txBody>
      </p:sp>
      <p:sp>
        <p:nvSpPr>
          <p:cNvPr id="5" name="Caption"/>
          <p:cNvSpPr/>
          <p:nvPr/>
        </p:nvSpPr>
        <p:spPr>
          <a:xfrm>
            <a:off x="470000" y="3910000"/>
            <a:ext cx="8400000" cy="950000"/>
          </a:xfrm>
          <a:prstGeom prst="rect">
            <a:avLst/>
          </a:prstGeom>
          <a:noFill/>
          <a:ln/>
        </p:spPr>
        <p:txBody>
          <a:bodyPr wrap="square" rtlCol="0" anchor="t"/>
          <a:lstStyle/>
          <a:p>
            <a:pPr marL="0" indent="0" algn="l">
              <a:buNone/>
            </a:pPr>
            <a:r>
              <a:rPr lang="en-US" sz="1100" i="1" dirty="0">
                <a:solidFill>
                  <a:srgbClr val="5A6570"/>
                </a:solidFill>
                <a:latin typeface="Calibri" pitchFamily="34" charset="0"/>
                <a:ea typeface="Calibri" pitchFamily="34" charset="-122"/>
                <a:cs typeface="Calibri" pitchFamily="34" charset="-120"/>
              </a:rPr>
              <a:t>Five-fold cross-validation on identical folds. The forest beats Cox only in colon; Cox is competitive or better in rectum and stomach. The in-sample column shows the optimism that cross-validation removes, most starkly in rectum (0.827 down to 0.716).</a:t>
            </a:r>
          </a:p>
        </p:txBody>
      </p:sp>
      <p:sp>
        <p:nvSpPr>
          <p:cNvPr id="55" name="slidenum"/>
          <p:cNvSpPr>
            <a:spLocks noGrp="1"/>
          </p:cNvSpPr>
          <p:nvPr/>
        </p:nvSpPr>
        <p:spPr>
          <a:xfrm>
            <a:off x="8469680" y="4790000"/>
            <a:ext cx="400000" cy="230000"/>
          </a:xfrm>
          <a:prstGeom prst="rect">
            <a:avLst/>
          </a:prstGeom>
          <a:noFill/>
        </p:spPr>
        <p:txBody>
          <a:bodyPr wrap="none" lIns="0" tIns="0" rIns="0" bIns="0" anchor="ctr"/>
          <a:lstStyle/>
          <a:p>
            <a:pPr algn="r"/>
            <a:r>
              <a:rPr lang="en-US" sz="1000" b="0">
                <a:solidFill>
                  <a:srgbClr val="808080"/>
                </a:solidFill>
              </a:rPr>
              <a:t>13</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HAP beeswarm">
    <p:bg>
      <p:bgPr>
        <a:solidFill>
          <a:srgbClr val="F1F3F4"/>
        </a:solidFill>
        <a:effectLst/>
      </p:bgPr>
    </p:bg>
    <p:spTree>
      <p:nvGrpSpPr>
        <p:cNvPr id="1" name=""/>
        <p:cNvGrpSpPr/>
        <p:nvPr/>
      </p:nvGrpSpPr>
      <p:grpSpPr>
        <a:xfrm>
          <a:off x="0" y="0"/>
          <a:ext cx="0" cy="0"/>
          <a:chOff x="0" y="0"/>
          <a:chExt cx="0" cy="0"/>
        </a:xfrm>
      </p:grpSpPr>
      <p:sp>
        <p:nvSpPr>
          <p:cNvPr id="2" name="Title"/>
          <p:cNvSpPr/>
          <p:nvPr/>
        </p:nvSpPr>
        <p:spPr>
          <a:xfrm>
            <a:off x="457200" y="228600"/>
            <a:ext cx="8229600" cy="502920"/>
          </a:xfrm>
          <a:prstGeom prst="rect">
            <a:avLst/>
          </a:prstGeom>
          <a:noFill/>
          <a:ln/>
        </p:spPr>
        <p:txBody>
          <a:bodyPr wrap="square" rtlCol="0" anchor="ctr"/>
          <a:lstStyle/>
          <a:p>
            <a:pPr marL="0" indent="0" algn="l">
              <a:buNone/>
            </a:pPr>
            <a:r>
              <a:rPr lang="en-US" sz="2600" b="1" dirty="0">
                <a:solidFill>
                  <a:srgbClr val="0D1B2A"/>
                </a:solidFill>
                <a:latin typeface="Calibri" pitchFamily="34" charset="0"/>
                <a:ea typeface="Calibri" pitchFamily="34" charset="-122"/>
                <a:cs typeface="Calibri" pitchFamily="34" charset="-120"/>
              </a:rPr>
              <a:t>Global SHAP Importance (values)</a:t>
            </a:r>
          </a:p>
        </p:txBody>
      </p:sp>
      <p:pic>
        <p:nvPicPr>
          <p:cNvPr id="3" name="Figure"/>
          <p:cNvPicPr>
            <a:picLocks noChangeAspect="1"/>
          </p:cNvPicPr>
          <p:nvPr/>
        </p:nvPicPr>
        <p:blipFill>
          <a:blip r:embed="rId2"/>
          <a:stretch>
            <a:fillRect/>
          </a:stretch>
        </p:blipFill>
        <p:spPr>
          <a:xfrm>
            <a:off x="1587907" y="800000"/>
            <a:ext cx="5968186" cy="3060000"/>
          </a:xfrm>
          <a:prstGeom prst="rect">
            <a:avLst/>
          </a:prstGeom>
        </p:spPr>
      </p:pic>
      <p:sp>
        <p:nvSpPr>
          <p:cNvPr id="4" name="Accent"/>
          <p:cNvSpPr/>
          <p:nvPr/>
        </p:nvSpPr>
        <p:spPr>
          <a:xfrm>
            <a:off x="274320" y="3910000"/>
            <a:ext cx="109728" cy="470000"/>
          </a:xfrm>
          <a:prstGeom prst="rect">
            <a:avLst/>
          </a:prstGeom>
          <a:solidFill>
            <a:srgbClr val="1E6091"/>
          </a:solidFill>
        </p:spPr>
        <p:txBody>
          <a:bodyPr/>
          <a:lstStyle/>
          <a:p>
            <a:endParaRPr lang="en-GB"/>
          </a:p>
        </p:txBody>
      </p:sp>
      <p:sp>
        <p:nvSpPr>
          <p:cNvPr id="5" name="Caption"/>
          <p:cNvSpPr/>
          <p:nvPr/>
        </p:nvSpPr>
        <p:spPr>
          <a:xfrm>
            <a:off x="470000" y="3910000"/>
            <a:ext cx="8400000" cy="950000"/>
          </a:xfrm>
          <a:prstGeom prst="rect">
            <a:avLst/>
          </a:prstGeom>
          <a:noFill/>
          <a:ln/>
        </p:spPr>
        <p:txBody>
          <a:bodyPr wrap="square" rtlCol="0" anchor="t"/>
          <a:lstStyle/>
          <a:p>
            <a:pPr marL="0" indent="0" algn="l">
              <a:buNone/>
            </a:pPr>
            <a:r>
              <a:rPr lang="en-US" sz="1100" i="1" dirty="0">
                <a:solidFill>
                  <a:srgbClr val="5A6570"/>
                </a:solidFill>
                <a:latin typeface="Calibri" pitchFamily="34" charset="0"/>
                <a:ea typeface="Calibri" pitchFamily="34" charset="-122"/>
                <a:cs typeface="Calibri" pitchFamily="34" charset="-120"/>
              </a:rPr>
              <a:t>Mean absolute SHAP value per feature, the numbers behind the importance figure. Staging leads in colon and stomach, age leads in rectum, and treatment received ranks second in stomach with the confounding-by-indication caveat.</a:t>
            </a:r>
          </a:p>
        </p:txBody>
      </p:sp>
      <p:sp>
        <p:nvSpPr>
          <p:cNvPr id="55" name="slidenum"/>
          <p:cNvSpPr>
            <a:spLocks noGrp="1"/>
          </p:cNvSpPr>
          <p:nvPr/>
        </p:nvSpPr>
        <p:spPr>
          <a:xfrm>
            <a:off x="8469680" y="4790000"/>
            <a:ext cx="400000" cy="230000"/>
          </a:xfrm>
          <a:prstGeom prst="rect">
            <a:avLst/>
          </a:prstGeom>
          <a:noFill/>
        </p:spPr>
        <p:txBody>
          <a:bodyPr wrap="none" lIns="0" tIns="0" rIns="0" bIns="0" anchor="ctr"/>
          <a:lstStyle/>
          <a:p>
            <a:pPr algn="r"/>
            <a:r>
              <a:rPr lang="en-US" sz="1000" b="0">
                <a:solidFill>
                  <a:srgbClr val="808080"/>
                </a:solidFill>
              </a:rPr>
              <a:t>14</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HAP beeswarm">
    <p:bg>
      <p:bgPr>
        <a:solidFill>
          <a:srgbClr val="F1F3F4"/>
        </a:solidFill>
        <a:effectLst/>
      </p:bgPr>
    </p:bg>
    <p:spTree>
      <p:nvGrpSpPr>
        <p:cNvPr id="1" name=""/>
        <p:cNvGrpSpPr/>
        <p:nvPr/>
      </p:nvGrpSpPr>
      <p:grpSpPr>
        <a:xfrm>
          <a:off x="0" y="0"/>
          <a:ext cx="0" cy="0"/>
          <a:chOff x="0" y="0"/>
          <a:chExt cx="0" cy="0"/>
        </a:xfrm>
      </p:grpSpPr>
      <p:sp>
        <p:nvSpPr>
          <p:cNvPr id="2" name="Title"/>
          <p:cNvSpPr/>
          <p:nvPr/>
        </p:nvSpPr>
        <p:spPr>
          <a:xfrm>
            <a:off x="457200" y="228600"/>
            <a:ext cx="8229600" cy="502920"/>
          </a:xfrm>
          <a:prstGeom prst="rect">
            <a:avLst/>
          </a:prstGeom>
          <a:noFill/>
          <a:ln/>
        </p:spPr>
        <p:txBody>
          <a:bodyPr wrap="square" rtlCol="0" anchor="ctr"/>
          <a:lstStyle/>
          <a:p>
            <a:pPr marL="0" indent="0" algn="l">
              <a:buNone/>
            </a:pPr>
            <a:r>
              <a:rPr lang="en-US" sz="2600" b="1" dirty="0">
                <a:solidFill>
                  <a:srgbClr val="0D1B2A"/>
                </a:solidFill>
                <a:latin typeface="Calibri" pitchFamily="34" charset="0"/>
                <a:ea typeface="Calibri" pitchFamily="34" charset="-122"/>
                <a:cs typeface="Calibri" pitchFamily="34" charset="-120"/>
              </a:rPr>
              <a:t>Permutation Importance (values)</a:t>
            </a:r>
          </a:p>
        </p:txBody>
      </p:sp>
      <p:pic>
        <p:nvPicPr>
          <p:cNvPr id="3" name="Figure"/>
          <p:cNvPicPr>
            <a:picLocks noChangeAspect="1"/>
          </p:cNvPicPr>
          <p:nvPr/>
        </p:nvPicPr>
        <p:blipFill>
          <a:blip r:embed="rId2"/>
          <a:stretch>
            <a:fillRect/>
          </a:stretch>
        </p:blipFill>
        <p:spPr>
          <a:xfrm>
            <a:off x="1559887" y="800000"/>
            <a:ext cx="6024225" cy="3060000"/>
          </a:xfrm>
          <a:prstGeom prst="rect">
            <a:avLst/>
          </a:prstGeom>
        </p:spPr>
      </p:pic>
      <p:sp>
        <p:nvSpPr>
          <p:cNvPr id="4" name="Accent"/>
          <p:cNvSpPr/>
          <p:nvPr/>
        </p:nvSpPr>
        <p:spPr>
          <a:xfrm>
            <a:off x="274320" y="3910000"/>
            <a:ext cx="109728" cy="470000"/>
          </a:xfrm>
          <a:prstGeom prst="rect">
            <a:avLst/>
          </a:prstGeom>
          <a:solidFill>
            <a:srgbClr val="1E6091"/>
          </a:solidFill>
        </p:spPr>
        <p:txBody>
          <a:bodyPr/>
          <a:lstStyle/>
          <a:p>
            <a:endParaRPr lang="en-GB"/>
          </a:p>
        </p:txBody>
      </p:sp>
      <p:sp>
        <p:nvSpPr>
          <p:cNvPr id="5" name="Caption"/>
          <p:cNvSpPr/>
          <p:nvPr/>
        </p:nvSpPr>
        <p:spPr>
          <a:xfrm>
            <a:off x="470000" y="3910000"/>
            <a:ext cx="8400000" cy="950000"/>
          </a:xfrm>
          <a:prstGeom prst="rect">
            <a:avLst/>
          </a:prstGeom>
          <a:noFill/>
          <a:ln/>
        </p:spPr>
        <p:txBody>
          <a:bodyPr wrap="square" rtlCol="0" anchor="t"/>
          <a:lstStyle/>
          <a:p>
            <a:pPr marL="0" indent="0" algn="l">
              <a:buNone/>
            </a:pPr>
            <a:r>
              <a:rPr lang="en-US" sz="1100" i="1" dirty="0">
                <a:solidFill>
                  <a:srgbClr val="5A6570"/>
                </a:solidFill>
                <a:latin typeface="Calibri" pitchFamily="34" charset="0"/>
                <a:ea typeface="Calibri" pitchFamily="34" charset="-122"/>
                <a:cs typeface="Calibri" pitchFamily="34" charset="-120"/>
              </a:rPr>
              <a:t>Mean drop in concordance when each feature is shuffled, averaged across folds. Negative values mean shuffling slightly improved the score, which is noise around zero and indicates no usable signal from that feature.</a:t>
            </a:r>
          </a:p>
        </p:txBody>
      </p:sp>
      <p:sp>
        <p:nvSpPr>
          <p:cNvPr id="55" name="slidenum"/>
          <p:cNvSpPr>
            <a:spLocks noGrp="1"/>
          </p:cNvSpPr>
          <p:nvPr/>
        </p:nvSpPr>
        <p:spPr>
          <a:xfrm>
            <a:off x="8469680" y="4790000"/>
            <a:ext cx="400000" cy="230000"/>
          </a:xfrm>
          <a:prstGeom prst="rect">
            <a:avLst/>
          </a:prstGeom>
          <a:noFill/>
        </p:spPr>
        <p:txBody>
          <a:bodyPr wrap="none" lIns="0" tIns="0" rIns="0" bIns="0" anchor="ctr"/>
          <a:lstStyle/>
          <a:p>
            <a:pPr algn="r"/>
            <a:r>
              <a:rPr lang="en-US" sz="1000" b="0">
                <a:solidFill>
                  <a:srgbClr val="808080"/>
                </a:solidFill>
              </a:rPr>
              <a:t>15</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HAP beeswarm">
    <p:bg>
      <p:bgPr>
        <a:solidFill>
          <a:srgbClr val="F1F3F4"/>
        </a:solidFill>
        <a:effectLst/>
      </p:bgPr>
    </p:bg>
    <p:spTree>
      <p:nvGrpSpPr>
        <p:cNvPr id="1" name=""/>
        <p:cNvGrpSpPr/>
        <p:nvPr/>
      </p:nvGrpSpPr>
      <p:grpSpPr>
        <a:xfrm>
          <a:off x="0" y="0"/>
          <a:ext cx="0" cy="0"/>
          <a:chOff x="0" y="0"/>
          <a:chExt cx="0" cy="0"/>
        </a:xfrm>
      </p:grpSpPr>
      <p:sp>
        <p:nvSpPr>
          <p:cNvPr id="2" name="Title"/>
          <p:cNvSpPr/>
          <p:nvPr/>
        </p:nvSpPr>
        <p:spPr>
          <a:xfrm>
            <a:off x="457200" y="228600"/>
            <a:ext cx="8229600" cy="502920"/>
          </a:xfrm>
          <a:prstGeom prst="rect">
            <a:avLst/>
          </a:prstGeom>
          <a:noFill/>
          <a:ln/>
        </p:spPr>
        <p:txBody>
          <a:bodyPr wrap="square" rtlCol="0" anchor="ctr"/>
          <a:lstStyle/>
          <a:p>
            <a:pPr marL="0" indent="0" algn="l">
              <a:buNone/>
            </a:pPr>
            <a:r>
              <a:rPr lang="en-US" sz="2600" b="1" dirty="0">
                <a:solidFill>
                  <a:srgbClr val="0D1B2A"/>
                </a:solidFill>
                <a:latin typeface="Calibri" pitchFamily="34" charset="0"/>
                <a:ea typeface="Calibri" pitchFamily="34" charset="-122"/>
                <a:cs typeface="Calibri" pitchFamily="34" charset="-120"/>
              </a:rPr>
              <a:t>Cross-Cancer Transfer: Full Metrics</a:t>
            </a:r>
          </a:p>
        </p:txBody>
      </p:sp>
      <p:pic>
        <p:nvPicPr>
          <p:cNvPr id="3" name="Figure"/>
          <p:cNvPicPr>
            <a:picLocks noChangeAspect="1"/>
          </p:cNvPicPr>
          <p:nvPr/>
        </p:nvPicPr>
        <p:blipFill>
          <a:blip r:embed="rId2"/>
          <a:stretch>
            <a:fillRect/>
          </a:stretch>
        </p:blipFill>
        <p:spPr>
          <a:xfrm>
            <a:off x="535284" y="800000"/>
            <a:ext cx="8073431" cy="3060000"/>
          </a:xfrm>
          <a:prstGeom prst="rect">
            <a:avLst/>
          </a:prstGeom>
        </p:spPr>
      </p:pic>
      <p:sp>
        <p:nvSpPr>
          <p:cNvPr id="4" name="Accent"/>
          <p:cNvSpPr/>
          <p:nvPr/>
        </p:nvSpPr>
        <p:spPr>
          <a:xfrm>
            <a:off x="274320" y="3910000"/>
            <a:ext cx="109728" cy="470000"/>
          </a:xfrm>
          <a:prstGeom prst="rect">
            <a:avLst/>
          </a:prstGeom>
          <a:solidFill>
            <a:srgbClr val="1E6091"/>
          </a:solidFill>
        </p:spPr>
        <p:txBody>
          <a:bodyPr/>
          <a:lstStyle/>
          <a:p>
            <a:endParaRPr lang="en-GB"/>
          </a:p>
        </p:txBody>
      </p:sp>
      <p:sp>
        <p:nvSpPr>
          <p:cNvPr id="5" name="Caption"/>
          <p:cNvSpPr/>
          <p:nvPr/>
        </p:nvSpPr>
        <p:spPr>
          <a:xfrm>
            <a:off x="470000" y="3910000"/>
            <a:ext cx="8400000" cy="950000"/>
          </a:xfrm>
          <a:prstGeom prst="rect">
            <a:avLst/>
          </a:prstGeom>
          <a:noFill/>
          <a:ln/>
        </p:spPr>
        <p:txBody>
          <a:bodyPr wrap="square" rtlCol="0" anchor="t"/>
          <a:lstStyle/>
          <a:p>
            <a:pPr marL="0" indent="0" algn="l">
              <a:buNone/>
            </a:pPr>
            <a:r>
              <a:rPr lang="en-US" sz="1100" i="1" dirty="0">
                <a:solidFill>
                  <a:srgbClr val="5A6570"/>
                </a:solidFill>
                <a:latin typeface="Calibri" pitchFamily="34" charset="0"/>
                <a:ea typeface="Calibri" pitchFamily="34" charset="-122"/>
                <a:cs typeface="Calibri" pitchFamily="34" charset="-120"/>
              </a:rPr>
              <a:t>A forest trained on 579 colorectal patients, never shown a stomach patient, scores 0.646 on stomach against a 0.650 ceiling from a stomach-trained model. Discrimination transfers almost perfectly; calibration is weaker (Brier 0.192).</a:t>
            </a:r>
          </a:p>
        </p:txBody>
      </p:sp>
      <p:sp>
        <p:nvSpPr>
          <p:cNvPr id="55" name="slidenum"/>
          <p:cNvSpPr>
            <a:spLocks noGrp="1"/>
          </p:cNvSpPr>
          <p:nvPr/>
        </p:nvSpPr>
        <p:spPr>
          <a:xfrm>
            <a:off x="8469680" y="4790000"/>
            <a:ext cx="400000" cy="230000"/>
          </a:xfrm>
          <a:prstGeom prst="rect">
            <a:avLst/>
          </a:prstGeom>
          <a:noFill/>
        </p:spPr>
        <p:txBody>
          <a:bodyPr wrap="none" lIns="0" tIns="0" rIns="0" bIns="0" anchor="ctr"/>
          <a:lstStyle/>
          <a:p>
            <a:pPr algn="r"/>
            <a:r>
              <a:rPr lang="en-US" sz="1000" b="0">
                <a:solidFill>
                  <a:srgbClr val="808080"/>
                </a:solidFill>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512</TotalTime>
  <Words>2218</Words>
  <Application>Microsoft Office PowerPoint</Application>
  <PresentationFormat>On-screen Show (16:9)</PresentationFormat>
  <Paragraphs>223</Paragraphs>
  <Slides>24</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Survival Analysis of Colorectal and Stomach Cancers</dc:title>
  <dc:subject/>
  <dc:creator>Anmol Singh</dc:creator>
  <cp:lastModifiedBy>Anmol Singh</cp:lastModifiedBy>
  <cp:revision>15</cp:revision>
  <dcterms:created xsi:type="dcterms:W3CDTF">2026-06-02T20:28:58Z</dcterms:created>
  <dcterms:modified xsi:type="dcterms:W3CDTF">2026-07-07T01:18:17Z</dcterms:modified>
</cp:coreProperties>
</file>
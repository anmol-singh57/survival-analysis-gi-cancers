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4" r:id="rId18"/>
    <p:sldId id="275" r:id="rId19"/>
    <p:sldId id="276" r:id="rId20"/>
    <p:sldId id="282" r:id="rId21"/>
    <p:sldId id="280" r:id="rId22"/>
    <p:sldId id="277" r:id="rId23"/>
    <p:sldId id="281" r:id="rId24"/>
    <p:sldId id="283" r:id="rId25"/>
    <p:sldId id="284" r:id="rId26"/>
    <p:sldId id="278" r:id="rId27"/>
    <p:sldId id="279"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41FE44-9D3D-498A-8AF2-CBA4C6848608}" v="10" dt="2026-06-02T20:33:48.3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mol Singh" userId="e71b76cf9a3795c8" providerId="LiveId" clId="{6E84B1DE-C365-4CFF-B73F-08C2D7DE79A7}"/>
    <pc:docChg chg="undo custSel delSld modSld">
      <pc:chgData name="Anmol Singh" userId="e71b76cf9a3795c8" providerId="LiveId" clId="{6E84B1DE-C365-4CFF-B73F-08C2D7DE79A7}" dt="2026-06-02T20:33:59.331" v="15" actId="2696"/>
      <pc:docMkLst>
        <pc:docMk/>
      </pc:docMkLst>
      <pc:sldChg chg="modSp mod">
        <pc:chgData name="Anmol Singh" userId="e71b76cf9a3795c8" providerId="LiveId" clId="{6E84B1DE-C365-4CFF-B73F-08C2D7DE79A7}" dt="2026-06-02T20:30:46.034" v="2" actId="20577"/>
        <pc:sldMkLst>
          <pc:docMk/>
          <pc:sldMk cId="0" sldId="256"/>
        </pc:sldMkLst>
        <pc:spChg chg="mod">
          <ac:chgData name="Anmol Singh" userId="e71b76cf9a3795c8" providerId="LiveId" clId="{6E84B1DE-C365-4CFF-B73F-08C2D7DE79A7}" dt="2026-06-02T20:30:42.760" v="0"/>
          <ac:spMkLst>
            <pc:docMk/>
            <pc:sldMk cId="0" sldId="256"/>
            <ac:spMk id="6" creationId="{00000000-0000-0000-0000-000000000000}"/>
          </ac:spMkLst>
        </pc:spChg>
        <pc:spChg chg="mod">
          <ac:chgData name="Anmol Singh" userId="e71b76cf9a3795c8" providerId="LiveId" clId="{6E84B1DE-C365-4CFF-B73F-08C2D7DE79A7}" dt="2026-06-02T20:30:46.034" v="2" actId="20577"/>
          <ac:spMkLst>
            <pc:docMk/>
            <pc:sldMk cId="0" sldId="256"/>
            <ac:spMk id="7" creationId="{00000000-0000-0000-0000-000000000000}"/>
          </ac:spMkLst>
        </pc:spChg>
      </pc:sldChg>
      <pc:sldChg chg="modSp">
        <pc:chgData name="Anmol Singh" userId="e71b76cf9a3795c8" providerId="LiveId" clId="{6E84B1DE-C365-4CFF-B73F-08C2D7DE79A7}" dt="2026-06-02T20:33:05.052" v="7"/>
        <pc:sldMkLst>
          <pc:docMk/>
          <pc:sldMk cId="0" sldId="266"/>
        </pc:sldMkLst>
        <pc:spChg chg="mod">
          <ac:chgData name="Anmol Singh" userId="e71b76cf9a3795c8" providerId="LiveId" clId="{6E84B1DE-C365-4CFF-B73F-08C2D7DE79A7}" dt="2026-06-02T20:32:24.526" v="4"/>
          <ac:spMkLst>
            <pc:docMk/>
            <pc:sldMk cId="0" sldId="266"/>
            <ac:spMk id="6" creationId="{00000000-0000-0000-0000-000000000000}"/>
          </ac:spMkLst>
        </pc:spChg>
        <pc:spChg chg="mod">
          <ac:chgData name="Anmol Singh" userId="e71b76cf9a3795c8" providerId="LiveId" clId="{6E84B1DE-C365-4CFF-B73F-08C2D7DE79A7}" dt="2026-06-02T20:32:36.045" v="5"/>
          <ac:spMkLst>
            <pc:docMk/>
            <pc:sldMk cId="0" sldId="266"/>
            <ac:spMk id="11" creationId="{00000000-0000-0000-0000-000000000000}"/>
          </ac:spMkLst>
        </pc:spChg>
        <pc:spChg chg="mod">
          <ac:chgData name="Anmol Singh" userId="e71b76cf9a3795c8" providerId="LiveId" clId="{6E84B1DE-C365-4CFF-B73F-08C2D7DE79A7}" dt="2026-06-02T20:32:46.594" v="6"/>
          <ac:spMkLst>
            <pc:docMk/>
            <pc:sldMk cId="0" sldId="266"/>
            <ac:spMk id="16" creationId="{00000000-0000-0000-0000-000000000000}"/>
          </ac:spMkLst>
        </pc:spChg>
        <pc:spChg chg="mod">
          <ac:chgData name="Anmol Singh" userId="e71b76cf9a3795c8" providerId="LiveId" clId="{6E84B1DE-C365-4CFF-B73F-08C2D7DE79A7}" dt="2026-06-02T20:33:05.052" v="7"/>
          <ac:spMkLst>
            <pc:docMk/>
            <pc:sldMk cId="0" sldId="266"/>
            <ac:spMk id="21" creationId="{00000000-0000-0000-0000-000000000000}"/>
          </ac:spMkLst>
        </pc:spChg>
      </pc:sldChg>
      <pc:sldChg chg="modSp mod">
        <pc:chgData name="Anmol Singh" userId="e71b76cf9a3795c8" providerId="LiveId" clId="{6E84B1DE-C365-4CFF-B73F-08C2D7DE79A7}" dt="2026-06-02T20:33:50.954" v="14" actId="1076"/>
        <pc:sldMkLst>
          <pc:docMk/>
          <pc:sldMk cId="0" sldId="267"/>
        </pc:sldMkLst>
        <pc:spChg chg="mod">
          <ac:chgData name="Anmol Singh" userId="e71b76cf9a3795c8" providerId="LiveId" clId="{6E84B1DE-C365-4CFF-B73F-08C2D7DE79A7}" dt="2026-06-02T20:33:19.156" v="8"/>
          <ac:spMkLst>
            <pc:docMk/>
            <pc:sldMk cId="0" sldId="267"/>
            <ac:spMk id="5" creationId="{00000000-0000-0000-0000-000000000000}"/>
          </ac:spMkLst>
        </pc:spChg>
        <pc:spChg chg="mod">
          <ac:chgData name="Anmol Singh" userId="e71b76cf9a3795c8" providerId="LiveId" clId="{6E84B1DE-C365-4CFF-B73F-08C2D7DE79A7}" dt="2026-06-02T20:33:33.096" v="9"/>
          <ac:spMkLst>
            <pc:docMk/>
            <pc:sldMk cId="0" sldId="267"/>
            <ac:spMk id="14" creationId="{00000000-0000-0000-0000-000000000000}"/>
          </ac:spMkLst>
        </pc:spChg>
        <pc:spChg chg="mod">
          <ac:chgData name="Anmol Singh" userId="e71b76cf9a3795c8" providerId="LiveId" clId="{6E84B1DE-C365-4CFF-B73F-08C2D7DE79A7}" dt="2026-06-02T20:33:35.905" v="11" actId="1076"/>
          <ac:spMkLst>
            <pc:docMk/>
            <pc:sldMk cId="0" sldId="267"/>
            <ac:spMk id="15" creationId="{00000000-0000-0000-0000-000000000000}"/>
          </ac:spMkLst>
        </pc:spChg>
        <pc:spChg chg="mod">
          <ac:chgData name="Anmol Singh" userId="e71b76cf9a3795c8" providerId="LiveId" clId="{6E84B1DE-C365-4CFF-B73F-08C2D7DE79A7}" dt="2026-06-02T20:33:48.310" v="12"/>
          <ac:spMkLst>
            <pc:docMk/>
            <pc:sldMk cId="0" sldId="267"/>
            <ac:spMk id="18" creationId="{00000000-0000-0000-0000-000000000000}"/>
          </ac:spMkLst>
        </pc:spChg>
        <pc:spChg chg="mod">
          <ac:chgData name="Anmol Singh" userId="e71b76cf9a3795c8" providerId="LiveId" clId="{6E84B1DE-C365-4CFF-B73F-08C2D7DE79A7}" dt="2026-06-02T20:33:50.954" v="14" actId="1076"/>
          <ac:spMkLst>
            <pc:docMk/>
            <pc:sldMk cId="0" sldId="267"/>
            <ac:spMk id="19" creationId="{00000000-0000-0000-0000-000000000000}"/>
          </ac:spMkLst>
        </pc:spChg>
      </pc:sldChg>
      <pc:sldChg chg="del">
        <pc:chgData name="Anmol Singh" userId="e71b76cf9a3795c8" providerId="LiveId" clId="{6E84B1DE-C365-4CFF-B73F-08C2D7DE79A7}" dt="2026-06-02T20:33:59.331" v="15" actId="2696"/>
        <pc:sldMkLst>
          <pc:docMk/>
          <pc:sldMk cId="0" sldId="26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D1B2A"/>
                </a:solidFill>
                <a:latin typeface="Arial"/>
              </a:defRPr>
            </a:pPr>
            <a:r>
              <a:rPr lang="en-GB" sz="1300" b="0" i="0" u="none" strike="noStrike">
                <a:solidFill>
                  <a:srgbClr val="0D1B2A"/>
                </a:solidFill>
                <a:latin typeface="Arial"/>
              </a:rPr>
              <a:t>Missingness by Variable (%)</a:t>
            </a:r>
          </a:p>
        </c:rich>
      </c:tx>
      <c:overlay val="0"/>
    </c:title>
    <c:autoTitleDeleted val="0"/>
    <c:plotArea>
      <c:layout/>
      <c:barChart>
        <c:barDir val="bar"/>
        <c:grouping val="clustered"/>
        <c:varyColors val="0"/>
        <c:ser>
          <c:idx val="0"/>
          <c:order val="0"/>
          <c:tx>
            <c:strRef>
              <c:f>Sheet1!$B$1</c:f>
              <c:strCache>
                <c:ptCount val="1"/>
                <c:pt idx="0">
                  <c:v>COAD</c:v>
                </c:pt>
              </c:strCache>
            </c:strRef>
          </c:tx>
          <c:spPr>
            <a:solidFill>
              <a:srgbClr val="1E6091"/>
            </a:solidFill>
            <a:effectLst/>
          </c:spPr>
          <c:invertIfNegative val="0"/>
          <c:dLbls>
            <c:numFmt formatCode="#,##0" sourceLinked="0"/>
            <c:spPr>
              <a:noFill/>
              <a:ln>
                <a:noFill/>
              </a:ln>
              <a:effectLst/>
            </c:spPr>
            <c:txPr>
              <a:bodyPr/>
              <a:lstStyle/>
              <a:p>
                <a:pPr>
                  <a:defRPr sz="80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Sheet1!$A$3:$A$6</c:f>
              <c:strCache>
                <c:ptCount val="4"/>
                <c:pt idx="0">
                  <c:v>Days to Death</c:v>
                </c:pt>
                <c:pt idx="1">
                  <c:v>Days to Follow-up</c:v>
                </c:pt>
                <c:pt idx="2">
                  <c:v>Pathologic Stage</c:v>
                </c:pt>
                <c:pt idx="3">
                  <c:v>Age at Index</c:v>
                </c:pt>
              </c:strCache>
            </c:strRef>
          </c:cat>
          <c:val>
            <c:numRef>
              <c:f>Sheet1!$B$3:$B$6</c:f>
              <c:numCache>
                <c:formatCode>General</c:formatCode>
                <c:ptCount val="4"/>
                <c:pt idx="0">
                  <c:v>72.7</c:v>
                </c:pt>
                <c:pt idx="1">
                  <c:v>26.3</c:v>
                </c:pt>
                <c:pt idx="2">
                  <c:v>2.5</c:v>
                </c:pt>
                <c:pt idx="3">
                  <c:v>0.1</c:v>
                </c:pt>
              </c:numCache>
            </c:numRef>
          </c:val>
          <c:extLst>
            <c:ext xmlns:c16="http://schemas.microsoft.com/office/drawing/2014/chart" uri="{C3380CC4-5D6E-409C-BE32-E72D297353CC}">
              <c16:uniqueId val="{00000000-9DB2-4C62-A81C-4A94460D87DF}"/>
            </c:ext>
          </c:extLst>
        </c:ser>
        <c:ser>
          <c:idx val="1"/>
          <c:order val="1"/>
          <c:tx>
            <c:strRef>
              <c:f>Sheet1!$C$1</c:f>
              <c:strCache>
                <c:ptCount val="1"/>
                <c:pt idx="0">
                  <c:v>READ</c:v>
                </c:pt>
              </c:strCache>
            </c:strRef>
          </c:tx>
          <c:spPr>
            <a:solidFill>
              <a:srgbClr val="2A9D8F"/>
            </a:solidFill>
            <a:effectLst/>
          </c:spPr>
          <c:invertIfNegative val="0"/>
          <c:dLbls>
            <c:numFmt formatCode="#,##0" sourceLinked="0"/>
            <c:spPr>
              <a:noFill/>
              <a:ln>
                <a:noFill/>
              </a:ln>
              <a:effectLst/>
            </c:spPr>
            <c:txPr>
              <a:bodyPr/>
              <a:lstStyle/>
              <a:p>
                <a:pPr>
                  <a:defRPr sz="80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Sheet1!$A$3:$A$6</c:f>
              <c:strCache>
                <c:ptCount val="4"/>
                <c:pt idx="0">
                  <c:v>Days to Death</c:v>
                </c:pt>
                <c:pt idx="1">
                  <c:v>Days to Follow-up</c:v>
                </c:pt>
                <c:pt idx="2">
                  <c:v>Pathologic Stage</c:v>
                </c:pt>
                <c:pt idx="3">
                  <c:v>Age at Index</c:v>
                </c:pt>
              </c:strCache>
            </c:strRef>
          </c:cat>
          <c:val>
            <c:numRef>
              <c:f>Sheet1!$C$3:$C$6</c:f>
              <c:numCache>
                <c:formatCode>General</c:formatCode>
                <c:ptCount val="4"/>
                <c:pt idx="0">
                  <c:v>80.099999999999994</c:v>
                </c:pt>
                <c:pt idx="1">
                  <c:v>24.5</c:v>
                </c:pt>
                <c:pt idx="2">
                  <c:v>5</c:v>
                </c:pt>
                <c:pt idx="3">
                  <c:v>0.5</c:v>
                </c:pt>
              </c:numCache>
            </c:numRef>
          </c:val>
          <c:extLst>
            <c:ext xmlns:c16="http://schemas.microsoft.com/office/drawing/2014/chart" uri="{C3380CC4-5D6E-409C-BE32-E72D297353CC}">
              <c16:uniqueId val="{00000001-9DB2-4C62-A81C-4A94460D87DF}"/>
            </c:ext>
          </c:extLst>
        </c:ser>
        <c:ser>
          <c:idx val="2"/>
          <c:order val="2"/>
          <c:tx>
            <c:strRef>
              <c:f>Sheet1!$D$1</c:f>
              <c:strCache>
                <c:ptCount val="1"/>
                <c:pt idx="0">
                  <c:v>STAD</c:v>
                </c:pt>
              </c:strCache>
            </c:strRef>
          </c:tx>
          <c:spPr>
            <a:solidFill>
              <a:srgbClr val="E63946"/>
            </a:solidFill>
            <a:effectLst/>
          </c:spPr>
          <c:invertIfNegative val="0"/>
          <c:dLbls>
            <c:numFmt formatCode="#,##0" sourceLinked="0"/>
            <c:spPr>
              <a:noFill/>
              <a:ln>
                <a:noFill/>
              </a:ln>
              <a:effectLst/>
            </c:spPr>
            <c:txPr>
              <a:bodyPr/>
              <a:lstStyle/>
              <a:p>
                <a:pPr>
                  <a:defRPr sz="80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Sheet1!$A$3:$A$6</c:f>
              <c:strCache>
                <c:ptCount val="4"/>
                <c:pt idx="0">
                  <c:v>Days to Death</c:v>
                </c:pt>
                <c:pt idx="1">
                  <c:v>Days to Follow-up</c:v>
                </c:pt>
                <c:pt idx="2">
                  <c:v>Pathologic Stage</c:v>
                </c:pt>
                <c:pt idx="3">
                  <c:v>Age at Index</c:v>
                </c:pt>
              </c:strCache>
            </c:strRef>
          </c:cat>
          <c:val>
            <c:numRef>
              <c:f>Sheet1!$D$3:$D$6</c:f>
              <c:numCache>
                <c:formatCode>General</c:formatCode>
                <c:ptCount val="4"/>
                <c:pt idx="0">
                  <c:v>55</c:v>
                </c:pt>
                <c:pt idx="1">
                  <c:v>29.3</c:v>
                </c:pt>
                <c:pt idx="2">
                  <c:v>3.9</c:v>
                </c:pt>
                <c:pt idx="3">
                  <c:v>2.2000000000000002</c:v>
                </c:pt>
              </c:numCache>
            </c:numRef>
          </c:val>
          <c:extLst>
            <c:ext xmlns:c16="http://schemas.microsoft.com/office/drawing/2014/chart" uri="{C3380CC4-5D6E-409C-BE32-E72D297353CC}">
              <c16:uniqueId val="{00000002-9DB2-4C62-A81C-4A94460D87DF}"/>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D1B2A"/>
                </a:solidFill>
                <a:latin typeface="Arial"/>
              </a:defRPr>
            </a:pPr>
            <a:endParaRPr lang="en-US"/>
          </a:p>
        </c:txPr>
        <c:crossAx val="2094734552"/>
        <c:crosses val="autoZero"/>
        <c:auto val="1"/>
        <c:lblAlgn val="ctr"/>
        <c:lblOffset val="100"/>
        <c:noMultiLvlLbl val="1"/>
      </c:catAx>
      <c:valAx>
        <c:axId val="2094734552"/>
        <c:scaling>
          <c:orientation val="minMax"/>
          <c:max val="85"/>
        </c:scaling>
        <c:delete val="0"/>
        <c:axPos val="b"/>
        <c:majorGridlines>
          <c:spPr>
            <a:ln w="6350" cap="flat">
              <a:solidFill>
                <a:srgbClr val="E9EC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D99A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1F3F4"/>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292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63946"/>
          </a:solidFill>
          <a:ln w="12700">
            <a:solidFill>
              <a:srgbClr val="E63946"/>
            </a:solidFill>
            <a:prstDash val="solid"/>
          </a:ln>
        </p:spPr>
        <p:txBody>
          <a:bodyPr/>
          <a:lstStyle/>
          <a:p>
            <a:endParaRPr lang="en-GB"/>
          </a:p>
        </p:txBody>
      </p:sp>
      <p:sp>
        <p:nvSpPr>
          <p:cNvPr id="3" name="Text 1"/>
          <p:cNvSpPr/>
          <p:nvPr/>
        </p:nvSpPr>
        <p:spPr>
          <a:xfrm>
            <a:off x="457200" y="1005840"/>
            <a:ext cx="6858000" cy="18288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Survival Analysis of Colorectal</a:t>
            </a:r>
            <a:endParaRPr lang="en-US" sz="3600" dirty="0"/>
          </a:p>
        </p:txBody>
      </p:sp>
      <p:sp>
        <p:nvSpPr>
          <p:cNvPr id="4" name="Text 2"/>
          <p:cNvSpPr/>
          <p:nvPr/>
        </p:nvSpPr>
        <p:spPr>
          <a:xfrm>
            <a:off x="457200" y="2834640"/>
            <a:ext cx="6858000" cy="457200"/>
          </a:xfrm>
          <a:prstGeom prst="rect">
            <a:avLst/>
          </a:prstGeom>
          <a:noFill/>
          <a:ln/>
        </p:spPr>
        <p:txBody>
          <a:bodyPr wrap="square" rtlCol="0" anchor="ctr"/>
          <a:lstStyle/>
          <a:p>
            <a:pPr marL="0" indent="0">
              <a:buNone/>
            </a:pPr>
            <a:r>
              <a:rPr lang="en-US" sz="1800" i="1" dirty="0">
                <a:solidFill>
                  <a:srgbClr val="A8DADC"/>
                </a:solidFill>
                <a:latin typeface="Calibri" pitchFamily="34" charset="0"/>
                <a:ea typeface="Calibri" pitchFamily="34" charset="-122"/>
                <a:cs typeface="Calibri" pitchFamily="34" charset="-120"/>
              </a:rPr>
              <a:t>A Comparative Study Using TCGA Clinical Data</a:t>
            </a:r>
            <a:endParaRPr lang="en-US" sz="1800" dirty="0"/>
          </a:p>
        </p:txBody>
      </p:sp>
      <p:sp>
        <p:nvSpPr>
          <p:cNvPr id="5" name="Shape 3"/>
          <p:cNvSpPr/>
          <p:nvPr/>
        </p:nvSpPr>
        <p:spPr>
          <a:xfrm>
            <a:off x="457200" y="3429000"/>
            <a:ext cx="3200400" cy="36576"/>
          </a:xfrm>
          <a:prstGeom prst="rect">
            <a:avLst/>
          </a:prstGeom>
          <a:solidFill>
            <a:srgbClr val="E63946"/>
          </a:solidFill>
          <a:ln w="12700">
            <a:solidFill>
              <a:srgbClr val="E63946"/>
            </a:solidFill>
            <a:prstDash val="solid"/>
          </a:ln>
        </p:spPr>
        <p:txBody>
          <a:bodyPr/>
          <a:lstStyle/>
          <a:p>
            <a:endParaRPr lang="en-GB"/>
          </a:p>
        </p:txBody>
      </p:sp>
      <p:sp>
        <p:nvSpPr>
          <p:cNvPr id="6" name="Text 4"/>
          <p:cNvSpPr/>
          <p:nvPr/>
        </p:nvSpPr>
        <p:spPr>
          <a:xfrm>
            <a:off x="457200" y="3749040"/>
            <a:ext cx="7315200" cy="365760"/>
          </a:xfrm>
          <a:prstGeom prst="rect">
            <a:avLst/>
          </a:prstGeom>
          <a:noFill/>
          <a:ln/>
        </p:spPr>
        <p:txBody>
          <a:bodyPr wrap="square" rtlCol="0" anchor="ctr"/>
          <a:lstStyle/>
          <a:p>
            <a:r>
              <a:rPr lang="en-US" sz="1300" b="1" dirty="0">
                <a:solidFill>
                  <a:srgbClr val="8D99AE"/>
                </a:solidFill>
                <a:latin typeface="Calibri" pitchFamily="34" charset="0"/>
                <a:ea typeface="Calibri" pitchFamily="34" charset="-122"/>
                <a:cs typeface="Calibri" pitchFamily="34" charset="-120"/>
              </a:rPr>
              <a:t>Student ID: </a:t>
            </a:r>
            <a:r>
              <a:rPr lang="en-US" sz="1300" dirty="0">
                <a:solidFill>
                  <a:srgbClr val="FFFFFF"/>
                </a:solidFill>
                <a:latin typeface="Calibri" pitchFamily="34" charset="0"/>
                <a:ea typeface="Calibri" pitchFamily="34" charset="-122"/>
                <a:cs typeface="Calibri" pitchFamily="34" charset="-120"/>
              </a:rPr>
              <a:t>3068804</a:t>
            </a:r>
            <a:r>
              <a:rPr lang="en-US" sz="1300" dirty="0">
                <a:solidFill>
                  <a:srgbClr val="8D99AE"/>
                </a:solidFill>
                <a:latin typeface="Calibri" pitchFamily="34" charset="0"/>
                <a:ea typeface="Calibri" pitchFamily="34" charset="-122"/>
                <a:cs typeface="Calibri" pitchFamily="34" charset="-120"/>
              </a:rPr>
              <a:t>   |   </a:t>
            </a:r>
            <a:r>
              <a:rPr lang="en-US" sz="1300" b="1" dirty="0">
                <a:solidFill>
                  <a:srgbClr val="8D99AE"/>
                </a:solidFill>
                <a:latin typeface="Calibri" pitchFamily="34" charset="0"/>
                <a:ea typeface="Calibri" pitchFamily="34" charset="-122"/>
                <a:cs typeface="Calibri" pitchFamily="34" charset="-120"/>
              </a:rPr>
              <a:t>Supervisor: </a:t>
            </a:r>
            <a:r>
              <a:rPr lang="en-US" sz="1300" dirty="0">
                <a:solidFill>
                  <a:srgbClr val="FFFFFF"/>
                </a:solidFill>
                <a:latin typeface="Calibri" pitchFamily="34" charset="0"/>
                <a:ea typeface="Calibri" pitchFamily="34" charset="-122"/>
                <a:cs typeface="Calibri" pitchFamily="34" charset="-120"/>
              </a:rPr>
              <a:t>Dr Sudip Mondal</a:t>
            </a:r>
            <a:endParaRPr lang="en-US" sz="1300" dirty="0"/>
          </a:p>
        </p:txBody>
      </p:sp>
      <p:sp>
        <p:nvSpPr>
          <p:cNvPr id="7" name="Text 5"/>
          <p:cNvSpPr/>
          <p:nvPr/>
        </p:nvSpPr>
        <p:spPr>
          <a:xfrm>
            <a:off x="457200" y="4480560"/>
            <a:ext cx="8229600" cy="365760"/>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MSc Health Data Science  |  University of Birmingham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Project Overview</a:t>
            </a:r>
            <a:endParaRPr lang="en-US" sz="2800" dirty="0"/>
          </a:p>
        </p:txBody>
      </p:sp>
      <p:sp>
        <p:nvSpPr>
          <p:cNvPr id="3" name="Shape 1"/>
          <p:cNvSpPr/>
          <p:nvPr/>
        </p:nvSpPr>
        <p:spPr>
          <a:xfrm>
            <a:off x="36576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4" name="Shape 2"/>
          <p:cNvSpPr/>
          <p:nvPr/>
        </p:nvSpPr>
        <p:spPr>
          <a:xfrm>
            <a:off x="365760" y="1097280"/>
            <a:ext cx="2651760" cy="73152"/>
          </a:xfrm>
          <a:prstGeom prst="rect">
            <a:avLst/>
          </a:prstGeom>
          <a:solidFill>
            <a:srgbClr val="1E6091"/>
          </a:solidFill>
          <a:ln w="12700">
            <a:solidFill>
              <a:srgbClr val="1E6091"/>
            </a:solidFill>
            <a:prstDash val="solid"/>
          </a:ln>
        </p:spPr>
        <p:txBody>
          <a:bodyPr/>
          <a:lstStyle/>
          <a:p>
            <a:endParaRPr lang="en-GB"/>
          </a:p>
        </p:txBody>
      </p:sp>
      <p:sp>
        <p:nvSpPr>
          <p:cNvPr id="5" name="Text 3"/>
          <p:cNvSpPr/>
          <p:nvPr/>
        </p:nvSpPr>
        <p:spPr>
          <a:xfrm>
            <a:off x="502920" y="1234440"/>
            <a:ext cx="2377440" cy="365760"/>
          </a:xfrm>
          <a:prstGeom prst="rect">
            <a:avLst/>
          </a:prstGeom>
          <a:noFill/>
          <a:ln/>
        </p:spPr>
        <p:txBody>
          <a:bodyPr wrap="square" rtlCol="0" anchor="ctr"/>
          <a:lstStyle/>
          <a:p>
            <a:pPr marL="0" indent="0">
              <a:buNone/>
            </a:pPr>
            <a:r>
              <a:rPr lang="en-US" sz="1400" b="1" dirty="0">
                <a:solidFill>
                  <a:srgbClr val="1E6091"/>
                </a:solidFill>
                <a:latin typeface="Calibri" pitchFamily="34" charset="0"/>
                <a:ea typeface="Calibri" pitchFamily="34" charset="-122"/>
                <a:cs typeface="Calibri" pitchFamily="34" charset="-120"/>
              </a:rPr>
              <a:t>Primary Aim</a:t>
            </a:r>
            <a:endParaRPr lang="en-US" sz="1400" dirty="0"/>
          </a:p>
        </p:txBody>
      </p:sp>
      <p:sp>
        <p:nvSpPr>
          <p:cNvPr id="6" name="Text 4"/>
          <p:cNvSpPr/>
          <p:nvPr/>
        </p:nvSpPr>
        <p:spPr>
          <a:xfrm>
            <a:off x="50292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Investigate survival outcomes in colorectal cancer (COAD + READ) and compare them with stomach cancer (STAD) using TCGA clinical data.</a:t>
            </a:r>
            <a:endParaRPr lang="en-US" sz="1200" dirty="0"/>
          </a:p>
        </p:txBody>
      </p:sp>
      <p:sp>
        <p:nvSpPr>
          <p:cNvPr id="7" name="Shape 5"/>
          <p:cNvSpPr/>
          <p:nvPr/>
        </p:nvSpPr>
        <p:spPr>
          <a:xfrm>
            <a:off x="320040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8" name="Shape 6"/>
          <p:cNvSpPr/>
          <p:nvPr/>
        </p:nvSpPr>
        <p:spPr>
          <a:xfrm>
            <a:off x="3200400" y="1097280"/>
            <a:ext cx="2651760" cy="73152"/>
          </a:xfrm>
          <a:prstGeom prst="rect">
            <a:avLst/>
          </a:prstGeom>
          <a:solidFill>
            <a:srgbClr val="E63946"/>
          </a:solidFill>
          <a:ln w="12700">
            <a:solidFill>
              <a:srgbClr val="E63946"/>
            </a:solidFill>
            <a:prstDash val="solid"/>
          </a:ln>
        </p:spPr>
        <p:txBody>
          <a:bodyPr/>
          <a:lstStyle/>
          <a:p>
            <a:endParaRPr lang="en-GB"/>
          </a:p>
        </p:txBody>
      </p:sp>
      <p:sp>
        <p:nvSpPr>
          <p:cNvPr id="9" name="Text 7"/>
          <p:cNvSpPr/>
          <p:nvPr/>
        </p:nvSpPr>
        <p:spPr>
          <a:xfrm>
            <a:off x="3337560" y="1234440"/>
            <a:ext cx="2377440" cy="36576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Methods Pipeline</a:t>
            </a:r>
            <a:endParaRPr lang="en-US" sz="1400" dirty="0"/>
          </a:p>
        </p:txBody>
      </p:sp>
      <p:sp>
        <p:nvSpPr>
          <p:cNvPr id="10" name="Text 8"/>
          <p:cNvSpPr/>
          <p:nvPr/>
        </p:nvSpPr>
        <p:spPr>
          <a:xfrm>
            <a:off x="333756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Kaplan-Meier survival curves → Cox proportional hazards regression → Random Survival Forest with SHAP explainability → transfer step linking colorectal to stomach.</a:t>
            </a:r>
            <a:endParaRPr lang="en-US" sz="1200" dirty="0"/>
          </a:p>
        </p:txBody>
      </p:sp>
      <p:sp>
        <p:nvSpPr>
          <p:cNvPr id="11" name="Shape 9"/>
          <p:cNvSpPr/>
          <p:nvPr/>
        </p:nvSpPr>
        <p:spPr>
          <a:xfrm>
            <a:off x="603504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2" name="Shape 10"/>
          <p:cNvSpPr/>
          <p:nvPr/>
        </p:nvSpPr>
        <p:spPr>
          <a:xfrm>
            <a:off x="6035040" y="1097280"/>
            <a:ext cx="2651760" cy="73152"/>
          </a:xfrm>
          <a:prstGeom prst="rect">
            <a:avLst/>
          </a:prstGeom>
          <a:solidFill>
            <a:srgbClr val="2A9D8F"/>
          </a:solidFill>
          <a:ln w="12700">
            <a:solidFill>
              <a:srgbClr val="2A9D8F"/>
            </a:solidFill>
            <a:prstDash val="solid"/>
          </a:ln>
        </p:spPr>
        <p:txBody>
          <a:bodyPr/>
          <a:lstStyle/>
          <a:p>
            <a:endParaRPr lang="en-GB"/>
          </a:p>
        </p:txBody>
      </p:sp>
      <p:sp>
        <p:nvSpPr>
          <p:cNvPr id="13" name="Text 11"/>
          <p:cNvSpPr/>
          <p:nvPr/>
        </p:nvSpPr>
        <p:spPr>
          <a:xfrm>
            <a:off x="6172200" y="1234440"/>
            <a:ext cx="2377440" cy="365760"/>
          </a:xfrm>
          <a:prstGeom prst="rect">
            <a:avLst/>
          </a:prstGeom>
          <a:noFill/>
          <a:ln/>
        </p:spPr>
        <p:txBody>
          <a:bodyPr wrap="square" rtlCol="0" anchor="ctr"/>
          <a:lstStyle/>
          <a:p>
            <a:pPr marL="0" indent="0">
              <a:buNone/>
            </a:pPr>
            <a:r>
              <a:rPr lang="en-US" sz="1400" b="1" dirty="0">
                <a:solidFill>
                  <a:srgbClr val="2A9D8F"/>
                </a:solidFill>
                <a:latin typeface="Calibri" pitchFamily="34" charset="0"/>
                <a:ea typeface="Calibri" pitchFamily="34" charset="-122"/>
                <a:cs typeface="Calibri" pitchFamily="34" charset="-120"/>
              </a:rPr>
              <a:t>Key Challenge</a:t>
            </a:r>
            <a:endParaRPr lang="en-US" sz="1400" dirty="0"/>
          </a:p>
        </p:txBody>
      </p:sp>
      <p:sp>
        <p:nvSpPr>
          <p:cNvPr id="14" name="Text 12"/>
          <p:cNvSpPr/>
          <p:nvPr/>
        </p:nvSpPr>
        <p:spPr>
          <a:xfrm>
            <a:off x="617220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COAD/READ and STAD represent different patient cohorts. Cross-cohort trend comparison requires careful methodological justification.</a:t>
            </a:r>
            <a:endParaRPr lang="en-US" sz="1200" dirty="0"/>
          </a:p>
        </p:txBody>
      </p:sp>
      <p:sp>
        <p:nvSpPr>
          <p:cNvPr id="15" name="Text 13"/>
          <p:cNvSpPr/>
          <p:nvPr/>
        </p:nvSpPr>
        <p:spPr>
          <a:xfrm>
            <a:off x="457200" y="4754880"/>
            <a:ext cx="8229600" cy="274320"/>
          </a:xfrm>
          <a:prstGeom prst="rect">
            <a:avLst/>
          </a:prstGeom>
          <a:noFill/>
          <a:ln/>
        </p:spPr>
        <p:txBody>
          <a:bodyPr wrap="square" rtlCol="0" anchor="ctr"/>
          <a:lstStyle/>
          <a:p>
            <a:pPr marL="0" indent="0">
              <a:buNone/>
            </a:pPr>
            <a:r>
              <a:rPr lang="en-US" sz="1000" i="1" dirty="0">
                <a:solidFill>
                  <a:srgbClr val="8D99AE"/>
                </a:solidFill>
                <a:latin typeface="Calibri" pitchFamily="34" charset="0"/>
                <a:ea typeface="Calibri" pitchFamily="34" charset="-122"/>
                <a:cs typeface="Calibri" pitchFamily="34" charset="-120"/>
              </a:rPr>
              <a:t>Data Source: The Cancer Genome Atlas (TCGA) via GDC Portal, portal.gdc.cancer.gov</a:t>
            </a:r>
            <a:endParaRPr lang="en-US" sz="1000" dirty="0"/>
          </a:p>
        </p:txBody>
      </p:sp>
      <p:sp>
        <p:nvSpPr>
          <p:cNvPr id="6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Workflow">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Project Workflow</a:t>
            </a:r>
          </a:p>
        </p:txBody>
      </p:sp>
      <p:sp>
        <p:nvSpPr>
          <p:cNvPr id="54"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3</a:t>
            </a:r>
          </a:p>
        </p:txBody>
      </p:sp>
      <p:sp>
        <p:nvSpPr>
          <p:cNvPr id="55" name="Rectangle 54"/>
          <p:cNvSpPr/>
          <p:nvPr/>
        </p:nvSpPr>
        <p:spPr>
          <a:xfrm>
            <a:off x="1280160" y="1229868"/>
            <a:ext cx="6583679" cy="27432"/>
          </a:xfrm>
          <a:prstGeom prst="rect">
            <a:avLst/>
          </a:prstGeom>
          <a:solidFill>
            <a:srgbClr val="C7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41831" y="905256"/>
            <a:ext cx="676656" cy="676656"/>
          </a:xfrm>
          <a:prstGeom prst="ellipse">
            <a:avLst/>
          </a:prstGeom>
          <a:solidFill>
            <a:srgbClr val="1E6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Picture 56"/>
          <p:cNvPicPr>
            <a:picLocks noChangeAspect="1"/>
          </p:cNvPicPr>
          <p:nvPr/>
        </p:nvPicPr>
        <p:blipFill>
          <a:blip r:embed="rId2"/>
          <a:stretch>
            <a:fillRect/>
          </a:stretch>
        </p:blipFill>
        <p:spPr>
          <a:xfrm>
            <a:off x="1078992" y="1042416"/>
            <a:ext cx="402336" cy="402336"/>
          </a:xfrm>
          <a:prstGeom prst="rect">
            <a:avLst/>
          </a:prstGeom>
        </p:spPr>
      </p:pic>
      <p:sp>
        <p:nvSpPr>
          <p:cNvPr id="58" name="TextBox 57"/>
          <p:cNvSpPr txBox="1"/>
          <p:nvPr/>
        </p:nvSpPr>
        <p:spPr>
          <a:xfrm>
            <a:off x="320039" y="1664208"/>
            <a:ext cx="1920240" cy="438912"/>
          </a:xfrm>
          <a:prstGeom prst="rect">
            <a:avLst/>
          </a:prstGeom>
          <a:noFill/>
        </p:spPr>
        <p:txBody>
          <a:bodyPr wrap="square" anchor="ctr">
            <a:spAutoFit/>
          </a:bodyPr>
          <a:lstStyle/>
          <a:p>
            <a:pPr algn="ctr"/>
            <a:r>
              <a:rPr sz="1150" b="1">
                <a:solidFill>
                  <a:srgbClr val="1E6091"/>
                </a:solidFill>
                <a:latin typeface="Calibri"/>
              </a:rPr>
              <a:t>1.  Data &amp; Preprocessing</a:t>
            </a:r>
          </a:p>
        </p:txBody>
      </p:sp>
      <p:sp>
        <p:nvSpPr>
          <p:cNvPr id="59" name="Rounded Rectangle 58"/>
          <p:cNvSpPr/>
          <p:nvPr/>
        </p:nvSpPr>
        <p:spPr>
          <a:xfrm>
            <a:off x="320039" y="2176272"/>
            <a:ext cx="1920240" cy="1874519"/>
          </a:xfrm>
          <a:prstGeom prst="roundRect">
            <a:avLst>
              <a:gd name="adj" fmla="val 6000"/>
            </a:avLst>
          </a:prstGeom>
          <a:solidFill>
            <a:srgbClr val="E4ECF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73152" bIns="54864" rtlCol="0" anchor="ctr"/>
          <a:lstStyle/>
          <a:p>
            <a:pPr algn="l">
              <a:spcAft>
                <a:spcPts val="600"/>
              </a:spcAft>
            </a:pPr>
            <a:r>
              <a:rPr sz="1050">
                <a:solidFill>
                  <a:srgbClr val="1A1A2E"/>
                </a:solidFill>
                <a:latin typeface="Calibri"/>
              </a:rPr>
              <a:t>•  TCGA: COAD, READ, STAD</a:t>
            </a:r>
          </a:p>
          <a:p>
            <a:pPr algn="l">
              <a:spcAft>
                <a:spcPts val="600"/>
              </a:spcAft>
            </a:pPr>
            <a:r>
              <a:rPr sz="1050">
                <a:solidFill>
                  <a:srgbClr val="1A1A2E"/>
                </a:solidFill>
                <a:latin typeface="Calibri"/>
              </a:rPr>
              <a:t>•  Deduplicated to one row/patient</a:t>
            </a:r>
          </a:p>
          <a:p>
            <a:pPr algn="l">
              <a:spcAft>
                <a:spcPts val="600"/>
              </a:spcAft>
            </a:pPr>
            <a:r>
              <a:rPr sz="1050">
                <a:solidFill>
                  <a:srgbClr val="1A1A2E"/>
                </a:solidFill>
                <a:latin typeface="Calibri"/>
              </a:rPr>
              <a:t>•  437 / 161 / 412 patients</a:t>
            </a:r>
          </a:p>
          <a:p>
            <a:pPr algn="l">
              <a:spcAft>
                <a:spcPts val="600"/>
              </a:spcAft>
            </a:pPr>
            <a:r>
              <a:rPr sz="1050">
                <a:solidFill>
                  <a:srgbClr val="1A1A2E"/>
                </a:solidFill>
                <a:latin typeface="Calibri"/>
              </a:rPr>
              <a:t>•  11 clinical features</a:t>
            </a:r>
          </a:p>
        </p:txBody>
      </p:sp>
      <p:sp>
        <p:nvSpPr>
          <p:cNvPr id="60" name="Oval 59"/>
          <p:cNvSpPr/>
          <p:nvPr/>
        </p:nvSpPr>
        <p:spPr>
          <a:xfrm>
            <a:off x="3136391" y="905256"/>
            <a:ext cx="676656" cy="676656"/>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1" name="Picture 60"/>
          <p:cNvPicPr>
            <a:picLocks noChangeAspect="1"/>
          </p:cNvPicPr>
          <p:nvPr/>
        </p:nvPicPr>
        <p:blipFill>
          <a:blip r:embed="rId3"/>
          <a:stretch>
            <a:fillRect/>
          </a:stretch>
        </p:blipFill>
        <p:spPr>
          <a:xfrm>
            <a:off x="3273551" y="1042416"/>
            <a:ext cx="402336" cy="402336"/>
          </a:xfrm>
          <a:prstGeom prst="rect">
            <a:avLst/>
          </a:prstGeom>
        </p:spPr>
      </p:pic>
      <p:sp>
        <p:nvSpPr>
          <p:cNvPr id="62" name="TextBox 61"/>
          <p:cNvSpPr txBox="1"/>
          <p:nvPr/>
        </p:nvSpPr>
        <p:spPr>
          <a:xfrm>
            <a:off x="2514600" y="1664208"/>
            <a:ext cx="1920240" cy="438912"/>
          </a:xfrm>
          <a:prstGeom prst="rect">
            <a:avLst/>
          </a:prstGeom>
          <a:noFill/>
        </p:spPr>
        <p:txBody>
          <a:bodyPr wrap="square" anchor="ctr">
            <a:spAutoFit/>
          </a:bodyPr>
          <a:lstStyle/>
          <a:p>
            <a:pPr algn="ctr"/>
            <a:r>
              <a:rPr sz="1150" b="1">
                <a:solidFill>
                  <a:srgbClr val="2A9D8F"/>
                </a:solidFill>
                <a:latin typeface="Calibri"/>
              </a:rPr>
              <a:t>2.  Exploration</a:t>
            </a:r>
          </a:p>
        </p:txBody>
      </p:sp>
      <p:sp>
        <p:nvSpPr>
          <p:cNvPr id="63" name="Rounded Rectangle 62"/>
          <p:cNvSpPr/>
          <p:nvPr/>
        </p:nvSpPr>
        <p:spPr>
          <a:xfrm>
            <a:off x="2514600" y="2176272"/>
            <a:ext cx="1920240" cy="1874519"/>
          </a:xfrm>
          <a:prstGeom prst="roundRect">
            <a:avLst>
              <a:gd name="adj" fmla="val 6000"/>
            </a:avLst>
          </a:prstGeom>
          <a:solidFill>
            <a:srgbClr val="E5F3F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73152" bIns="54864" rtlCol="0" anchor="ctr"/>
          <a:lstStyle/>
          <a:p>
            <a:pPr algn="l">
              <a:spcAft>
                <a:spcPts val="600"/>
              </a:spcAft>
            </a:pPr>
            <a:r>
              <a:rPr sz="1050">
                <a:solidFill>
                  <a:srgbClr val="1A1A2E"/>
                </a:solidFill>
                <a:latin typeface="Calibri"/>
              </a:rPr>
              <a:t>•  Distributions per cancer</a:t>
            </a:r>
          </a:p>
          <a:p>
            <a:pPr algn="l">
              <a:spcAft>
                <a:spcPts val="600"/>
              </a:spcAft>
            </a:pPr>
            <a:r>
              <a:rPr sz="1050">
                <a:solidFill>
                  <a:srgbClr val="1A1A2E"/>
                </a:solidFill>
                <a:latin typeface="Calibri"/>
              </a:rPr>
              <a:t>•  Cohorts matched on age</a:t>
            </a:r>
          </a:p>
          <a:p>
            <a:pPr algn="l">
              <a:spcAft>
                <a:spcPts val="600"/>
              </a:spcAft>
            </a:pPr>
            <a:r>
              <a:rPr sz="1050">
                <a:solidFill>
                  <a:srgbClr val="1A1A2E"/>
                </a:solidFill>
                <a:latin typeface="Calibri"/>
              </a:rPr>
              <a:t>•  Stomach worst: 40.8% deaths</a:t>
            </a:r>
          </a:p>
        </p:txBody>
      </p:sp>
      <p:sp>
        <p:nvSpPr>
          <p:cNvPr id="64" name="Oval 63"/>
          <p:cNvSpPr/>
          <p:nvPr/>
        </p:nvSpPr>
        <p:spPr>
          <a:xfrm>
            <a:off x="5330952" y="905256"/>
            <a:ext cx="676656" cy="676656"/>
          </a:xfrm>
          <a:prstGeom prst="ellipse">
            <a:avLst/>
          </a:prstGeom>
          <a:solidFill>
            <a:srgbClr val="C77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Picture 64"/>
          <p:cNvPicPr>
            <a:picLocks noChangeAspect="1"/>
          </p:cNvPicPr>
          <p:nvPr/>
        </p:nvPicPr>
        <p:blipFill>
          <a:blip r:embed="rId4"/>
          <a:stretch>
            <a:fillRect/>
          </a:stretch>
        </p:blipFill>
        <p:spPr>
          <a:xfrm>
            <a:off x="5468112" y="1042416"/>
            <a:ext cx="402336" cy="402336"/>
          </a:xfrm>
          <a:prstGeom prst="rect">
            <a:avLst/>
          </a:prstGeom>
        </p:spPr>
      </p:pic>
      <p:sp>
        <p:nvSpPr>
          <p:cNvPr id="66" name="TextBox 65"/>
          <p:cNvSpPr txBox="1"/>
          <p:nvPr/>
        </p:nvSpPr>
        <p:spPr>
          <a:xfrm>
            <a:off x="4709160" y="1664208"/>
            <a:ext cx="1920240" cy="438912"/>
          </a:xfrm>
          <a:prstGeom prst="rect">
            <a:avLst/>
          </a:prstGeom>
          <a:noFill/>
        </p:spPr>
        <p:txBody>
          <a:bodyPr wrap="square" anchor="ctr">
            <a:spAutoFit/>
          </a:bodyPr>
          <a:lstStyle/>
          <a:p>
            <a:pPr algn="ctr"/>
            <a:r>
              <a:rPr sz="1150" b="1">
                <a:solidFill>
                  <a:srgbClr val="C77E00"/>
                </a:solidFill>
                <a:latin typeface="Calibri"/>
              </a:rPr>
              <a:t>3.  Survival Models</a:t>
            </a:r>
          </a:p>
        </p:txBody>
      </p:sp>
      <p:sp>
        <p:nvSpPr>
          <p:cNvPr id="67" name="Rounded Rectangle 66"/>
          <p:cNvSpPr/>
          <p:nvPr/>
        </p:nvSpPr>
        <p:spPr>
          <a:xfrm>
            <a:off x="4709160" y="2176272"/>
            <a:ext cx="1920240" cy="1874519"/>
          </a:xfrm>
          <a:prstGeom prst="roundRect">
            <a:avLst>
              <a:gd name="adj" fmla="val 6000"/>
            </a:avLst>
          </a:prstGeom>
          <a:solidFill>
            <a:srgbClr val="F4E5C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73152" bIns="54864" rtlCol="0" anchor="ctr"/>
          <a:lstStyle/>
          <a:p>
            <a:pPr algn="l">
              <a:spcAft>
                <a:spcPts val="600"/>
              </a:spcAft>
            </a:pPr>
            <a:r>
              <a:rPr sz="1050">
                <a:solidFill>
                  <a:srgbClr val="1A1A2E"/>
                </a:solidFill>
                <a:latin typeface="Calibri"/>
              </a:rPr>
              <a:t>•  Kaplan-Meier + log-rank</a:t>
            </a:r>
          </a:p>
          <a:p>
            <a:pPr algn="l">
              <a:spcAft>
                <a:spcPts val="600"/>
              </a:spcAft>
            </a:pPr>
            <a:r>
              <a:rPr sz="1050">
                <a:solidFill>
                  <a:srgbClr val="1A1A2E"/>
                </a:solidFill>
                <a:latin typeface="Calibri"/>
              </a:rPr>
              <a:t>•  Cox: 11 features, penalised</a:t>
            </a:r>
          </a:p>
          <a:p>
            <a:pPr algn="l">
              <a:spcAft>
                <a:spcPts val="600"/>
              </a:spcAft>
            </a:pPr>
            <a:r>
              <a:rPr sz="1050">
                <a:solidFill>
                  <a:srgbClr val="1A1A2E"/>
                </a:solidFill>
                <a:latin typeface="Calibri"/>
              </a:rPr>
              <a:t>•  Random Forest + SHAP</a:t>
            </a:r>
          </a:p>
          <a:p>
            <a:pPr algn="l">
              <a:spcAft>
                <a:spcPts val="600"/>
              </a:spcAft>
            </a:pPr>
            <a:r>
              <a:rPr sz="1050">
                <a:solidFill>
                  <a:srgbClr val="1A1A2E"/>
                </a:solidFill>
                <a:latin typeface="Calibri"/>
              </a:rPr>
              <a:t>•  C-index 0.76 / 0.83 / 0.70</a:t>
            </a:r>
          </a:p>
        </p:txBody>
      </p:sp>
      <p:sp>
        <p:nvSpPr>
          <p:cNvPr id="68" name="Oval 67"/>
          <p:cNvSpPr/>
          <p:nvPr/>
        </p:nvSpPr>
        <p:spPr>
          <a:xfrm>
            <a:off x="7525512" y="905256"/>
            <a:ext cx="676656" cy="676656"/>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9" name="Picture 68"/>
          <p:cNvPicPr>
            <a:picLocks noChangeAspect="1"/>
          </p:cNvPicPr>
          <p:nvPr/>
        </p:nvPicPr>
        <p:blipFill>
          <a:blip r:embed="rId5"/>
          <a:stretch>
            <a:fillRect/>
          </a:stretch>
        </p:blipFill>
        <p:spPr>
          <a:xfrm>
            <a:off x="7662671" y="1042416"/>
            <a:ext cx="402336" cy="402336"/>
          </a:xfrm>
          <a:prstGeom prst="rect">
            <a:avLst/>
          </a:prstGeom>
        </p:spPr>
      </p:pic>
      <p:sp>
        <p:nvSpPr>
          <p:cNvPr id="70" name="TextBox 69"/>
          <p:cNvSpPr txBox="1"/>
          <p:nvPr/>
        </p:nvSpPr>
        <p:spPr>
          <a:xfrm>
            <a:off x="6903720" y="1664208"/>
            <a:ext cx="1920240" cy="438912"/>
          </a:xfrm>
          <a:prstGeom prst="rect">
            <a:avLst/>
          </a:prstGeom>
          <a:noFill/>
        </p:spPr>
        <p:txBody>
          <a:bodyPr wrap="square" anchor="ctr">
            <a:spAutoFit/>
          </a:bodyPr>
          <a:lstStyle/>
          <a:p>
            <a:pPr algn="ctr"/>
            <a:r>
              <a:rPr sz="1150" b="1">
                <a:solidFill>
                  <a:srgbClr val="E63946"/>
                </a:solidFill>
                <a:latin typeface="Calibri"/>
              </a:rPr>
              <a:t>4.  Cross-Cancer Analysis</a:t>
            </a:r>
          </a:p>
        </p:txBody>
      </p:sp>
      <p:sp>
        <p:nvSpPr>
          <p:cNvPr id="71" name="Rounded Rectangle 70"/>
          <p:cNvSpPr/>
          <p:nvPr/>
        </p:nvSpPr>
        <p:spPr>
          <a:xfrm>
            <a:off x="6903720" y="2176272"/>
            <a:ext cx="1920240" cy="1874519"/>
          </a:xfrm>
          <a:prstGeom prst="roundRect">
            <a:avLst>
              <a:gd name="adj" fmla="val 6000"/>
            </a:avLst>
          </a:prstGeom>
          <a:solidFill>
            <a:srgbClr val="FCE7E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73152" bIns="54864" rtlCol="0" anchor="ctr"/>
          <a:lstStyle/>
          <a:p>
            <a:pPr algn="l">
              <a:spcAft>
                <a:spcPts val="600"/>
              </a:spcAft>
            </a:pPr>
            <a:r>
              <a:rPr sz="1050">
                <a:solidFill>
                  <a:srgbClr val="1A1A2E"/>
                </a:solidFill>
                <a:latin typeface="Calibri"/>
              </a:rPr>
              <a:t>•  Q1  3x worse stage-for-stage</a:t>
            </a:r>
          </a:p>
          <a:p>
            <a:pPr algn="l">
              <a:spcAft>
                <a:spcPts val="600"/>
              </a:spcAft>
            </a:pPr>
            <a:r>
              <a:rPr sz="1050">
                <a:solidFill>
                  <a:srgbClr val="1A1A2E"/>
                </a:solidFill>
                <a:latin typeface="Calibri"/>
              </a:rPr>
              <a:t>•  Q2  transfers, C-index 0.646</a:t>
            </a:r>
          </a:p>
          <a:p>
            <a:pPr algn="l">
              <a:spcAft>
                <a:spcPts val="600"/>
              </a:spcAft>
            </a:pPr>
            <a:r>
              <a:rPr sz="1050">
                <a:solidFill>
                  <a:srgbClr val="1A1A2E"/>
                </a:solidFill>
                <a:latin typeface="Calibri"/>
              </a:rPr>
              <a:t>•  Q3  predictors invariant</a:t>
            </a:r>
          </a:p>
        </p:txBody>
      </p:sp>
      <p:sp>
        <p:nvSpPr>
          <p:cNvPr id="72" name="Rounded Rectangle 71"/>
          <p:cNvSpPr/>
          <p:nvPr/>
        </p:nvSpPr>
        <p:spPr>
          <a:xfrm>
            <a:off x="320040" y="4187952"/>
            <a:ext cx="8503920" cy="457200"/>
          </a:xfrm>
          <a:prstGeom prst="roundRect">
            <a:avLst>
              <a:gd name="adj" fmla="val 12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a:solidFill>
                  <a:srgbClr val="FFFFFF"/>
                </a:solidFill>
                <a:latin typeface="Calibri"/>
              </a:rPr>
              <a:t>Key finding:  the same clinical predictors drive survival in all three cancers, so a colorectal model transfers to stomach, yet stomach remains intrinsically about three times worse stage-for-stage.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Dataset Overview</a:t>
            </a:r>
            <a:endParaRPr lang="en-US" sz="2800" dirty="0"/>
          </a:p>
        </p:txBody>
      </p:sp>
      <p:sp>
        <p:nvSpPr>
          <p:cNvPr id="3" name="Shape 1"/>
          <p:cNvSpPr/>
          <p:nvPr/>
        </p:nvSpPr>
        <p:spPr>
          <a:xfrm>
            <a:off x="365760" y="1097280"/>
            <a:ext cx="2651760" cy="347472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4" name="Shape 2"/>
          <p:cNvSpPr/>
          <p:nvPr/>
        </p:nvSpPr>
        <p:spPr>
          <a:xfrm>
            <a:off x="365760" y="1097280"/>
            <a:ext cx="2651760" cy="594360"/>
          </a:xfrm>
          <a:prstGeom prst="rect">
            <a:avLst/>
          </a:prstGeom>
          <a:solidFill>
            <a:srgbClr val="1E6091"/>
          </a:solidFill>
          <a:ln w="12700">
            <a:solidFill>
              <a:srgbClr val="1E6091"/>
            </a:solidFill>
            <a:prstDash val="solid"/>
          </a:ln>
        </p:spPr>
        <p:txBody>
          <a:bodyPr/>
          <a:lstStyle/>
          <a:p>
            <a:endParaRPr lang="en-GB"/>
          </a:p>
        </p:txBody>
      </p:sp>
      <p:sp>
        <p:nvSpPr>
          <p:cNvPr id="5" name="Text 3"/>
          <p:cNvSpPr/>
          <p:nvPr/>
        </p:nvSpPr>
        <p:spPr>
          <a:xfrm>
            <a:off x="457200" y="1115568"/>
            <a:ext cx="246888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COAD</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(Colon)</a:t>
            </a:r>
            <a:endParaRPr lang="en-US" sz="1400" dirty="0"/>
          </a:p>
        </p:txBody>
      </p:sp>
      <p:sp>
        <p:nvSpPr>
          <p:cNvPr id="6" name="Text 4"/>
          <p:cNvSpPr/>
          <p:nvPr/>
        </p:nvSpPr>
        <p:spPr>
          <a:xfrm>
            <a:off x="457200" y="1874520"/>
            <a:ext cx="2468880" cy="731520"/>
          </a:xfrm>
          <a:prstGeom prst="rect">
            <a:avLst/>
          </a:prstGeom>
          <a:noFill/>
          <a:ln/>
        </p:spPr>
        <p:txBody>
          <a:bodyPr wrap="square" rtlCol="0" anchor="ctr"/>
          <a:lstStyle/>
          <a:p>
            <a:pPr marL="0" indent="0" algn="ctr">
              <a:buNone/>
            </a:pPr>
            <a:r>
              <a:rPr lang="en-US" sz="4000" b="1" dirty="0">
                <a:solidFill>
                  <a:srgbClr val="1E6091"/>
                </a:solidFill>
                <a:latin typeface="Calibri" pitchFamily="34" charset="0"/>
                <a:ea typeface="Calibri" pitchFamily="34" charset="-122"/>
                <a:cs typeface="Calibri" pitchFamily="34" charset="-120"/>
              </a:rPr>
              <a:t>437</a:t>
            </a:r>
            <a:endParaRPr lang="en-US" sz="4000" dirty="0"/>
          </a:p>
        </p:txBody>
      </p:sp>
      <p:sp>
        <p:nvSpPr>
          <p:cNvPr id="7" name="Text 5"/>
          <p:cNvSpPr/>
          <p:nvPr/>
        </p:nvSpPr>
        <p:spPr>
          <a:xfrm>
            <a:off x="457200" y="2560320"/>
            <a:ext cx="2468880" cy="274320"/>
          </a:xfrm>
          <a:prstGeom prst="rect">
            <a:avLst/>
          </a:prstGeom>
          <a:noFill/>
          <a:ln/>
        </p:spPr>
        <p:txBody>
          <a:bodyPr wrap="square"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patients (after preprocessing)</a:t>
            </a:r>
            <a:endParaRPr lang="en-US" sz="1000" dirty="0"/>
          </a:p>
        </p:txBody>
      </p:sp>
      <p:sp>
        <p:nvSpPr>
          <p:cNvPr id="8" name="Text 6"/>
          <p:cNvSpPr/>
          <p:nvPr/>
        </p:nvSpPr>
        <p:spPr>
          <a:xfrm>
            <a:off x="502920" y="29260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Deaths</a:t>
            </a:r>
            <a:endParaRPr lang="en-US" sz="1100" dirty="0"/>
          </a:p>
        </p:txBody>
      </p:sp>
      <p:sp>
        <p:nvSpPr>
          <p:cNvPr id="9" name="Text 7"/>
          <p:cNvSpPr/>
          <p:nvPr/>
        </p:nvSpPr>
        <p:spPr>
          <a:xfrm>
            <a:off x="1737360" y="29260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95 (22%)</a:t>
            </a:r>
            <a:endParaRPr lang="en-US" sz="1100" dirty="0"/>
          </a:p>
        </p:txBody>
      </p:sp>
      <p:sp>
        <p:nvSpPr>
          <p:cNvPr id="10" name="Text 8"/>
          <p:cNvSpPr/>
          <p:nvPr/>
        </p:nvSpPr>
        <p:spPr>
          <a:xfrm>
            <a:off x="502920" y="33832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Stage missing</a:t>
            </a:r>
            <a:endParaRPr lang="en-US" sz="1100" dirty="0"/>
          </a:p>
        </p:txBody>
      </p:sp>
      <p:sp>
        <p:nvSpPr>
          <p:cNvPr id="11" name="Text 9"/>
          <p:cNvSpPr/>
          <p:nvPr/>
        </p:nvSpPr>
        <p:spPr>
          <a:xfrm>
            <a:off x="1737360" y="33832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502920" y="38404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Columns</a:t>
            </a:r>
            <a:endParaRPr lang="en-US" sz="1100" dirty="0"/>
          </a:p>
        </p:txBody>
      </p:sp>
      <p:sp>
        <p:nvSpPr>
          <p:cNvPr id="13" name="Text 11"/>
          <p:cNvSpPr/>
          <p:nvPr/>
        </p:nvSpPr>
        <p:spPr>
          <a:xfrm>
            <a:off x="1737360" y="38404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201</a:t>
            </a:r>
            <a:endParaRPr lang="en-US" sz="1100" dirty="0"/>
          </a:p>
        </p:txBody>
      </p:sp>
      <p:sp>
        <p:nvSpPr>
          <p:cNvPr id="14" name="Shape 12"/>
          <p:cNvSpPr/>
          <p:nvPr/>
        </p:nvSpPr>
        <p:spPr>
          <a:xfrm>
            <a:off x="3200400" y="1097280"/>
            <a:ext cx="2651760" cy="347472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5" name="Shape 13"/>
          <p:cNvSpPr/>
          <p:nvPr/>
        </p:nvSpPr>
        <p:spPr>
          <a:xfrm>
            <a:off x="3200400" y="1097280"/>
            <a:ext cx="2651760" cy="594360"/>
          </a:xfrm>
          <a:prstGeom prst="rect">
            <a:avLst/>
          </a:prstGeom>
          <a:solidFill>
            <a:srgbClr val="2A9D8F"/>
          </a:solidFill>
          <a:ln w="12700">
            <a:solidFill>
              <a:srgbClr val="2A9D8F"/>
            </a:solidFill>
            <a:prstDash val="solid"/>
          </a:ln>
        </p:spPr>
        <p:txBody>
          <a:bodyPr/>
          <a:lstStyle/>
          <a:p>
            <a:endParaRPr lang="en-GB"/>
          </a:p>
        </p:txBody>
      </p:sp>
      <p:sp>
        <p:nvSpPr>
          <p:cNvPr id="16" name="Text 14"/>
          <p:cNvSpPr/>
          <p:nvPr/>
        </p:nvSpPr>
        <p:spPr>
          <a:xfrm>
            <a:off x="3291840" y="1115568"/>
            <a:ext cx="246888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READ</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(Rectum)</a:t>
            </a:r>
            <a:endParaRPr lang="en-US" sz="1400" dirty="0"/>
          </a:p>
        </p:txBody>
      </p:sp>
      <p:sp>
        <p:nvSpPr>
          <p:cNvPr id="17" name="Text 15"/>
          <p:cNvSpPr/>
          <p:nvPr/>
        </p:nvSpPr>
        <p:spPr>
          <a:xfrm>
            <a:off x="3291840" y="1874520"/>
            <a:ext cx="2468880" cy="731520"/>
          </a:xfrm>
          <a:prstGeom prst="rect">
            <a:avLst/>
          </a:prstGeom>
          <a:noFill/>
          <a:ln/>
        </p:spPr>
        <p:txBody>
          <a:bodyPr wrap="square" rtlCol="0" anchor="ctr"/>
          <a:lstStyle/>
          <a:p>
            <a:pPr marL="0" indent="0" algn="ctr">
              <a:buNone/>
            </a:pPr>
            <a:r>
              <a:rPr lang="en-US" sz="4000" b="1" dirty="0">
                <a:solidFill>
                  <a:srgbClr val="2A9D8F"/>
                </a:solidFill>
                <a:latin typeface="Calibri" pitchFamily="34" charset="0"/>
                <a:ea typeface="Calibri" pitchFamily="34" charset="-122"/>
                <a:cs typeface="Calibri" pitchFamily="34" charset="-120"/>
              </a:rPr>
              <a:t>161</a:t>
            </a:r>
            <a:endParaRPr lang="en-US" sz="4000" dirty="0"/>
          </a:p>
        </p:txBody>
      </p:sp>
      <p:sp>
        <p:nvSpPr>
          <p:cNvPr id="18" name="Text 16"/>
          <p:cNvSpPr/>
          <p:nvPr/>
        </p:nvSpPr>
        <p:spPr>
          <a:xfrm>
            <a:off x="3291840" y="2560320"/>
            <a:ext cx="2468880" cy="274320"/>
          </a:xfrm>
          <a:prstGeom prst="rect">
            <a:avLst/>
          </a:prstGeom>
          <a:noFill/>
          <a:ln/>
        </p:spPr>
        <p:txBody>
          <a:bodyPr wrap="square"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patients (after preprocessing)</a:t>
            </a:r>
            <a:endParaRPr lang="en-US" sz="1000" dirty="0"/>
          </a:p>
        </p:txBody>
      </p:sp>
      <p:sp>
        <p:nvSpPr>
          <p:cNvPr id="19" name="Text 17"/>
          <p:cNvSpPr/>
          <p:nvPr/>
        </p:nvSpPr>
        <p:spPr>
          <a:xfrm>
            <a:off x="3337560" y="29260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Deaths</a:t>
            </a:r>
            <a:endParaRPr lang="en-US" sz="1100" dirty="0"/>
          </a:p>
        </p:txBody>
      </p:sp>
      <p:sp>
        <p:nvSpPr>
          <p:cNvPr id="20" name="Text 18"/>
          <p:cNvSpPr/>
          <p:nvPr/>
        </p:nvSpPr>
        <p:spPr>
          <a:xfrm>
            <a:off x="4572000" y="29260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27 (17%)</a:t>
            </a:r>
            <a:endParaRPr lang="en-US" sz="1100" dirty="0"/>
          </a:p>
        </p:txBody>
      </p:sp>
      <p:sp>
        <p:nvSpPr>
          <p:cNvPr id="21" name="Text 19"/>
          <p:cNvSpPr/>
          <p:nvPr/>
        </p:nvSpPr>
        <p:spPr>
          <a:xfrm>
            <a:off x="3337560" y="33832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Stage missing</a:t>
            </a:r>
            <a:endParaRPr lang="en-US" sz="1100" dirty="0"/>
          </a:p>
        </p:txBody>
      </p:sp>
      <p:sp>
        <p:nvSpPr>
          <p:cNvPr id="22" name="Text 20"/>
          <p:cNvSpPr/>
          <p:nvPr/>
        </p:nvSpPr>
        <p:spPr>
          <a:xfrm>
            <a:off x="4572000" y="33832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3337560" y="38404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Columns</a:t>
            </a:r>
            <a:endParaRPr lang="en-US" sz="1100" dirty="0"/>
          </a:p>
        </p:txBody>
      </p:sp>
      <p:sp>
        <p:nvSpPr>
          <p:cNvPr id="24" name="Text 22"/>
          <p:cNvSpPr/>
          <p:nvPr/>
        </p:nvSpPr>
        <p:spPr>
          <a:xfrm>
            <a:off x="4572000" y="38404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201</a:t>
            </a:r>
            <a:endParaRPr lang="en-US" sz="1100" dirty="0"/>
          </a:p>
        </p:txBody>
      </p:sp>
      <p:sp>
        <p:nvSpPr>
          <p:cNvPr id="25" name="Shape 23"/>
          <p:cNvSpPr/>
          <p:nvPr/>
        </p:nvSpPr>
        <p:spPr>
          <a:xfrm>
            <a:off x="6035040" y="1097280"/>
            <a:ext cx="2651760" cy="347472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26" name="Shape 24"/>
          <p:cNvSpPr/>
          <p:nvPr/>
        </p:nvSpPr>
        <p:spPr>
          <a:xfrm>
            <a:off x="6035040" y="1097280"/>
            <a:ext cx="2651760" cy="594360"/>
          </a:xfrm>
          <a:prstGeom prst="rect">
            <a:avLst/>
          </a:prstGeom>
          <a:solidFill>
            <a:srgbClr val="E63946"/>
          </a:solidFill>
          <a:ln w="12700">
            <a:solidFill>
              <a:srgbClr val="E63946"/>
            </a:solidFill>
            <a:prstDash val="solid"/>
          </a:ln>
        </p:spPr>
        <p:txBody>
          <a:bodyPr/>
          <a:lstStyle/>
          <a:p>
            <a:endParaRPr lang="en-GB"/>
          </a:p>
        </p:txBody>
      </p:sp>
      <p:sp>
        <p:nvSpPr>
          <p:cNvPr id="27" name="Text 25"/>
          <p:cNvSpPr/>
          <p:nvPr/>
        </p:nvSpPr>
        <p:spPr>
          <a:xfrm>
            <a:off x="6126480" y="1115568"/>
            <a:ext cx="246888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STAD</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(Stomach)</a:t>
            </a:r>
            <a:endParaRPr lang="en-US" sz="1400" dirty="0"/>
          </a:p>
        </p:txBody>
      </p:sp>
      <p:sp>
        <p:nvSpPr>
          <p:cNvPr id="28" name="Text 26"/>
          <p:cNvSpPr/>
          <p:nvPr/>
        </p:nvSpPr>
        <p:spPr>
          <a:xfrm>
            <a:off x="6126480" y="1874520"/>
            <a:ext cx="2468880" cy="731520"/>
          </a:xfrm>
          <a:prstGeom prst="rect">
            <a:avLst/>
          </a:prstGeom>
          <a:noFill/>
          <a:ln/>
        </p:spPr>
        <p:txBody>
          <a:bodyPr wrap="square" rtlCol="0" anchor="ctr"/>
          <a:lstStyle/>
          <a:p>
            <a:pPr marL="0" indent="0" algn="ctr">
              <a:buNone/>
            </a:pPr>
            <a:r>
              <a:rPr lang="en-US" sz="4000" b="1" dirty="0">
                <a:solidFill>
                  <a:srgbClr val="E63946"/>
                </a:solidFill>
                <a:latin typeface="Calibri" pitchFamily="34" charset="0"/>
                <a:ea typeface="Calibri" pitchFamily="34" charset="-122"/>
                <a:cs typeface="Calibri" pitchFamily="34" charset="-120"/>
              </a:rPr>
              <a:t>412</a:t>
            </a:r>
            <a:endParaRPr lang="en-US" sz="4000" dirty="0"/>
          </a:p>
        </p:txBody>
      </p:sp>
      <p:sp>
        <p:nvSpPr>
          <p:cNvPr id="29" name="Text 27"/>
          <p:cNvSpPr/>
          <p:nvPr/>
        </p:nvSpPr>
        <p:spPr>
          <a:xfrm>
            <a:off x="6126480" y="2560320"/>
            <a:ext cx="2468880" cy="274320"/>
          </a:xfrm>
          <a:prstGeom prst="rect">
            <a:avLst/>
          </a:prstGeom>
          <a:noFill/>
          <a:ln/>
        </p:spPr>
        <p:txBody>
          <a:bodyPr wrap="square"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patients (after preprocessing)</a:t>
            </a:r>
            <a:endParaRPr lang="en-US" sz="1000" dirty="0"/>
          </a:p>
        </p:txBody>
      </p:sp>
      <p:sp>
        <p:nvSpPr>
          <p:cNvPr id="30" name="Text 28"/>
          <p:cNvSpPr/>
          <p:nvPr/>
        </p:nvSpPr>
        <p:spPr>
          <a:xfrm>
            <a:off x="6172200" y="29260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Deaths</a:t>
            </a:r>
            <a:endParaRPr lang="en-US" sz="1100" dirty="0"/>
          </a:p>
        </p:txBody>
      </p:sp>
      <p:sp>
        <p:nvSpPr>
          <p:cNvPr id="31" name="Text 29"/>
          <p:cNvSpPr/>
          <p:nvPr/>
        </p:nvSpPr>
        <p:spPr>
          <a:xfrm>
            <a:off x="7406640" y="29260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168 (41%)</a:t>
            </a:r>
            <a:endParaRPr lang="en-US" sz="1100" dirty="0"/>
          </a:p>
        </p:txBody>
      </p:sp>
      <p:sp>
        <p:nvSpPr>
          <p:cNvPr id="32" name="Text 30"/>
          <p:cNvSpPr/>
          <p:nvPr/>
        </p:nvSpPr>
        <p:spPr>
          <a:xfrm>
            <a:off x="6172200" y="33832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Stage missing</a:t>
            </a:r>
            <a:endParaRPr lang="en-US" sz="1100" dirty="0"/>
          </a:p>
        </p:txBody>
      </p:sp>
      <p:sp>
        <p:nvSpPr>
          <p:cNvPr id="33" name="Text 31"/>
          <p:cNvSpPr/>
          <p:nvPr/>
        </p:nvSpPr>
        <p:spPr>
          <a:xfrm>
            <a:off x="7406640" y="33832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4%</a:t>
            </a:r>
            <a:endParaRPr lang="en-US" sz="1100" dirty="0"/>
          </a:p>
        </p:txBody>
      </p:sp>
      <p:sp>
        <p:nvSpPr>
          <p:cNvPr id="34" name="Text 32"/>
          <p:cNvSpPr/>
          <p:nvPr/>
        </p:nvSpPr>
        <p:spPr>
          <a:xfrm>
            <a:off x="6172200" y="3840480"/>
            <a:ext cx="1371600" cy="347472"/>
          </a:xfrm>
          <a:prstGeom prst="rect">
            <a:avLst/>
          </a:prstGeom>
          <a:noFill/>
          <a:ln/>
        </p:spPr>
        <p:txBody>
          <a:bodyPr wrap="square" rtlCol="0" anchor="ctr"/>
          <a:lstStyle/>
          <a:p>
            <a:pPr marL="0" indent="0">
              <a:buNone/>
            </a:pPr>
            <a:r>
              <a:rPr lang="en-US" sz="1100" dirty="0">
                <a:solidFill>
                  <a:srgbClr val="8D99AE"/>
                </a:solidFill>
                <a:latin typeface="Calibri" pitchFamily="34" charset="0"/>
                <a:ea typeface="Calibri" pitchFamily="34" charset="-122"/>
                <a:cs typeface="Calibri" pitchFamily="34" charset="-120"/>
              </a:rPr>
              <a:t>Columns</a:t>
            </a:r>
            <a:endParaRPr lang="en-US" sz="1100" dirty="0"/>
          </a:p>
        </p:txBody>
      </p:sp>
      <p:sp>
        <p:nvSpPr>
          <p:cNvPr id="35" name="Text 33"/>
          <p:cNvSpPr/>
          <p:nvPr/>
        </p:nvSpPr>
        <p:spPr>
          <a:xfrm>
            <a:off x="7406640" y="3840480"/>
            <a:ext cx="1143000" cy="347472"/>
          </a:xfrm>
          <a:prstGeom prst="rect">
            <a:avLst/>
          </a:prstGeom>
          <a:noFill/>
          <a:ln/>
        </p:spPr>
        <p:txBody>
          <a:bodyPr wrap="square" rtlCol="0" anchor="ctr"/>
          <a:lstStyle/>
          <a:p>
            <a:pPr marL="0" indent="0" algn="r">
              <a:buNone/>
            </a:pPr>
            <a:r>
              <a:rPr lang="en-US" sz="1100" b="1" dirty="0">
                <a:solidFill>
                  <a:srgbClr val="0D1B2A"/>
                </a:solidFill>
                <a:latin typeface="Calibri" pitchFamily="34" charset="0"/>
                <a:ea typeface="Calibri" pitchFamily="34" charset="-122"/>
                <a:cs typeface="Calibri" pitchFamily="34" charset="-120"/>
              </a:rPr>
              <a:t>201</a:t>
            </a:r>
            <a:endParaRPr lang="en-US" sz="1100" dirty="0"/>
          </a:p>
        </p:txBody>
      </p:sp>
      <p:sp>
        <p:nvSpPr>
          <p:cNvPr id="36" name="Text 34"/>
          <p:cNvSpPr/>
          <p:nvPr/>
        </p:nvSpPr>
        <p:spPr>
          <a:xfrm>
            <a:off x="457200" y="4754880"/>
            <a:ext cx="8229600" cy="274320"/>
          </a:xfrm>
          <a:prstGeom prst="rect">
            <a:avLst/>
          </a:prstGeom>
          <a:noFill/>
          <a:ln/>
        </p:spPr>
        <p:txBody>
          <a:bodyPr wrap="square" rtlCol="0" anchor="ctr"/>
          <a:lstStyle/>
          <a:p>
            <a:pPr marL="0" indent="0">
              <a:buNone/>
            </a:pPr>
            <a:r>
              <a:rPr lang="en-US" sz="1000" i="1" dirty="0">
                <a:solidFill>
                  <a:srgbClr val="8D99AE"/>
                </a:solidFill>
                <a:latin typeface="Calibri" pitchFamily="34" charset="0"/>
                <a:ea typeface="Calibri" pitchFamily="34" charset="-122"/>
                <a:cs typeface="Calibri" pitchFamily="34" charset="-120"/>
              </a:rPr>
              <a:t>Note: Counts are unique patients after deduplicating the multi-row TCGA files; patients with missing survival time were then removed (COAD: 24, READ: 11, STAD: 31)</a:t>
            </a:r>
            <a:endParaRPr lang="en-US" sz="1000" dirty="0"/>
          </a:p>
        </p:txBody>
      </p:sp>
      <p:sp>
        <p:nvSpPr>
          <p:cNvPr id="86"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Key Variables for Survival Analysis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8229600" cy="3474723"/>
        </p:xfrm>
        <a:graphic>
          <a:graphicData uri="http://schemas.openxmlformats.org/drawingml/2006/table">
            <a:tbl>
              <a:tblPr/>
              <a:tblGrid>
                <a:gridCol w="16459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96389">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Column Name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96389">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Vital Status</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demographic.vital_status</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Event indicator</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Alive / Dead, no missing values</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6389">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Days to Death</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demographic.days_to_death</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Survival time (dead)</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Missing for alive patients, expected</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extLst>
                  <a:ext uri="{0D108BD9-81ED-4DB2-BD59-A6C34878D82A}">
                    <a16:rowId xmlns:a16="http://schemas.microsoft.com/office/drawing/2014/main" val="10002"/>
                  </a:ext>
                </a:extLst>
              </a:tr>
              <a:tr h="496389">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Days to Last Follow-up</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diagnoses.days_to_last_follow_up</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Survival time (censored)</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Used when patient is alive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6389">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Pathologic Stage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diagnoses.ajcc_pathologic_stage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Key covariate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~3-5% missing across datasets</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extLst>
                  <a:ext uri="{0D108BD9-81ED-4DB2-BD59-A6C34878D82A}">
                    <a16:rowId xmlns:a16="http://schemas.microsoft.com/office/drawing/2014/main" val="10004"/>
                  </a:ext>
                </a:extLst>
              </a:tr>
              <a:tr h="496389">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Age at Index</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demographic.age_at_index</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Covariate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Near-complete, &lt;1% missing</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6389">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Gender</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demographic.gender</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Covariate</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tc>
                  <a:txBody>
                    <a:bodyPr/>
                    <a:lstStyle/>
                    <a:p>
                      <a:pPr marL="0" indent="0">
                        <a:buNone/>
                      </a:pPr>
                      <a:r>
                        <a:rPr lang="en-US" sz="1100" dirty="0">
                          <a:solidFill>
                            <a:srgbClr val="0D1B2A"/>
                          </a:solidFill>
                          <a:latin typeface="Calibri" pitchFamily="34" charset="0"/>
                          <a:ea typeface="Calibri" pitchFamily="34" charset="-122"/>
                          <a:cs typeface="Calibri" pitchFamily="34" charset="-120"/>
                        </a:rPr>
                        <a:t>Complete, no missing values</a:t>
                      </a:r>
                      <a:endParaRPr lang="en-US" sz="1100" dirty="0">
                        <a:latin typeface="Calibri" charset="0"/>
                        <a:ea typeface="Calibri" charset="0"/>
                        <a:cs typeface="Calibri" charset="0"/>
                      </a:endParaRPr>
                    </a:p>
                  </a:txBody>
                  <a:tcPr>
                    <a:lnL w="6350" cap="flat" cmpd="sng" algn="ctr">
                      <a:solidFill>
                        <a:srgbClr val="E9ECEF"/>
                      </a:solidFill>
                      <a:prstDash val="solid"/>
                      <a:round/>
                      <a:headEnd type="none" w="med" len="med"/>
                      <a:tailEnd type="none" w="med" len="med"/>
                    </a:lnL>
                    <a:lnR w="6350" cap="flat" cmpd="sng" algn="ctr">
                      <a:solidFill>
                        <a:srgbClr val="E9ECEF"/>
                      </a:solidFill>
                      <a:prstDash val="solid"/>
                      <a:round/>
                      <a:headEnd type="none" w="med" len="med"/>
                      <a:tailEnd type="none" w="med" len="med"/>
                    </a:lnR>
                    <a:lnT w="6350" cap="flat" cmpd="sng" algn="ctr">
                      <a:solidFill>
                        <a:srgbClr val="E9ECEF"/>
                      </a:solidFill>
                      <a:prstDash val="solid"/>
                      <a:round/>
                      <a:headEnd type="none" w="med" len="med"/>
                      <a:tailEnd type="none" w="med" len="med"/>
                    </a:lnT>
                    <a:lnB w="6350" cap="flat" cmpd="sng" algn="ctr">
                      <a:solidFill>
                        <a:srgbClr val="E9ECEF"/>
                      </a:solidFill>
                      <a:prstDash val="solid"/>
                      <a:round/>
                      <a:headEnd type="none" w="med" len="med"/>
                      <a:tailEnd type="none" w="med" len="med"/>
                    </a:lnB>
                    <a:solidFill>
                      <a:srgbClr val="E9ECEF"/>
                    </a:solidFill>
                  </a:tcPr>
                </a:tc>
                <a:extLst>
                  <a:ext uri="{0D108BD9-81ED-4DB2-BD59-A6C34878D82A}">
                    <a16:rowId xmlns:a16="http://schemas.microsoft.com/office/drawing/2014/main" val="10006"/>
                  </a:ext>
                </a:extLst>
              </a:tr>
            </a:tbl>
          </a:graphicData>
        </a:graphic>
      </p:graphicFrame>
      <p:sp>
        <p:nvSpPr>
          <p:cNvPr id="4" name="Text 1"/>
          <p:cNvSpPr/>
          <p:nvPr/>
        </p:nvSpPr>
        <p:spPr>
          <a:xfrm>
            <a:off x="457200" y="4600000"/>
            <a:ext cx="8229600" cy="460000"/>
          </a:xfrm>
          <a:prstGeom prst="rect">
            <a:avLst/>
          </a:prstGeom>
          <a:noFill/>
          <a:ln/>
        </p:spPr>
        <p:txBody>
          <a:bodyPr wrap="square" rtlCol="0" anchor="ctr"/>
          <a:lstStyle/>
          <a:p>
            <a:pPr marL="0" indent="0">
              <a:buNone/>
            </a:pPr>
            <a:r>
              <a:rPr lang="en-US" sz="1000" i="1" dirty="0">
                <a:solidFill>
                  <a:srgbClr val="8D99AE"/>
                </a:solidFill>
                <a:latin typeface="Calibri" pitchFamily="34" charset="0"/>
                <a:ea typeface="Calibri" pitchFamily="34" charset="-122"/>
                <a:cs typeface="Calibri" pitchFamily="34" charset="-120"/>
              </a:rPr>
              <a:t>Cox and forest models use 11 clinical covariates, adding T/N/M stage, prior malignancy, residual disease, treatment and demographics. Excluded: classification of tumour (post-baseline leakage) and prior treatment (near-zero variance).</a:t>
            </a:r>
            <a:endParaRPr lang="en-US" sz="1000" dirty="0"/>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Data Quality &amp; Missingness</a:t>
            </a:r>
            <a:endParaRPr lang="en-US" sz="2800" dirty="0"/>
          </a:p>
        </p:txBody>
      </p:sp>
      <p:graphicFrame>
        <p:nvGraphicFramePr>
          <p:cNvPr id="3" name="Chart 0"/>
          <p:cNvGraphicFramePr/>
          <p:nvPr/>
        </p:nvGraphicFramePr>
        <p:xfrm>
          <a:off x="457200" y="1097280"/>
          <a:ext cx="48006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623560" y="1051560"/>
            <a:ext cx="3063240" cy="1078992"/>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5" name="Shape 2"/>
          <p:cNvSpPr/>
          <p:nvPr/>
        </p:nvSpPr>
        <p:spPr>
          <a:xfrm>
            <a:off x="5623560" y="1051560"/>
            <a:ext cx="73152" cy="1078992"/>
          </a:xfrm>
          <a:prstGeom prst="rect">
            <a:avLst/>
          </a:prstGeom>
          <a:solidFill>
            <a:srgbClr val="1E6091"/>
          </a:solidFill>
          <a:ln w="12700">
            <a:solidFill>
              <a:srgbClr val="1E6091"/>
            </a:solidFill>
            <a:prstDash val="solid"/>
          </a:ln>
        </p:spPr>
        <p:txBody>
          <a:bodyPr/>
          <a:lstStyle/>
          <a:p>
            <a:endParaRPr lang="en-GB"/>
          </a:p>
        </p:txBody>
      </p:sp>
      <p:sp>
        <p:nvSpPr>
          <p:cNvPr id="6" name="Text 3"/>
          <p:cNvSpPr/>
          <p:nvPr/>
        </p:nvSpPr>
        <p:spPr>
          <a:xfrm>
            <a:off x="5760720" y="1097280"/>
            <a:ext cx="2834640" cy="320040"/>
          </a:xfrm>
          <a:prstGeom prst="rect">
            <a:avLst/>
          </a:prstGeom>
          <a:noFill/>
          <a:ln/>
        </p:spPr>
        <p:txBody>
          <a:bodyPr wrap="square" rtlCol="0" anchor="ctr"/>
          <a:lstStyle/>
          <a:p>
            <a:pPr marL="0" indent="0">
              <a:buNone/>
            </a:pPr>
            <a:r>
              <a:rPr lang="en-US" sz="1000" b="1" dirty="0">
                <a:solidFill>
                  <a:srgbClr val="1E6091"/>
                </a:solidFill>
                <a:latin typeface="Calibri" pitchFamily="34" charset="0"/>
                <a:ea typeface="Calibri" pitchFamily="34" charset="-122"/>
                <a:cs typeface="Calibri" pitchFamily="34" charset="-120"/>
              </a:rPr>
              <a:t>Days to Death, high missingness</a:t>
            </a:r>
            <a:endParaRPr lang="en-US" sz="1000" dirty="0"/>
          </a:p>
        </p:txBody>
      </p:sp>
      <p:sp>
        <p:nvSpPr>
          <p:cNvPr id="7" name="Text 4"/>
          <p:cNvSpPr/>
          <p:nvPr/>
        </p:nvSpPr>
        <p:spPr>
          <a:xfrm>
            <a:off x="5760720" y="1435608"/>
            <a:ext cx="2834640" cy="603504"/>
          </a:xfrm>
          <a:prstGeom prst="rect">
            <a:avLst/>
          </a:prstGeom>
          <a:noFill/>
          <a:ln/>
        </p:spPr>
        <p:txBody>
          <a:bodyPr wrap="square" rtlCol="0" anchor="t"/>
          <a:lstStyle/>
          <a:p>
            <a:pPr marL="0" indent="0">
              <a:buNone/>
            </a:pPr>
            <a:r>
              <a:rPr lang="en-US" sz="950" dirty="0">
                <a:solidFill>
                  <a:srgbClr val="0D1B2A"/>
                </a:solidFill>
                <a:latin typeface="Calibri" pitchFamily="34" charset="0"/>
                <a:ea typeface="Calibri" pitchFamily="34" charset="-122"/>
                <a:cs typeface="Calibri" pitchFamily="34" charset="-120"/>
              </a:rPr>
              <a:t>Expected: most patients are alive. Alive patients have no death date. These are censored observations, not data errors.</a:t>
            </a:r>
            <a:endParaRPr lang="en-US" sz="950" dirty="0"/>
          </a:p>
        </p:txBody>
      </p:sp>
      <p:sp>
        <p:nvSpPr>
          <p:cNvPr id="8" name="Shape 5"/>
          <p:cNvSpPr/>
          <p:nvPr/>
        </p:nvSpPr>
        <p:spPr>
          <a:xfrm>
            <a:off x="5623560" y="2295144"/>
            <a:ext cx="3063240" cy="1078992"/>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9" name="Shape 6"/>
          <p:cNvSpPr/>
          <p:nvPr/>
        </p:nvSpPr>
        <p:spPr>
          <a:xfrm>
            <a:off x="5623560" y="2295144"/>
            <a:ext cx="73152" cy="1078992"/>
          </a:xfrm>
          <a:prstGeom prst="rect">
            <a:avLst/>
          </a:prstGeom>
          <a:solidFill>
            <a:srgbClr val="E63946"/>
          </a:solidFill>
          <a:ln w="12700">
            <a:solidFill>
              <a:srgbClr val="E63946"/>
            </a:solidFill>
            <a:prstDash val="solid"/>
          </a:ln>
        </p:spPr>
        <p:txBody>
          <a:bodyPr/>
          <a:lstStyle/>
          <a:p>
            <a:endParaRPr lang="en-GB"/>
          </a:p>
        </p:txBody>
      </p:sp>
      <p:sp>
        <p:nvSpPr>
          <p:cNvPr id="10" name="Text 7"/>
          <p:cNvSpPr/>
          <p:nvPr/>
        </p:nvSpPr>
        <p:spPr>
          <a:xfrm>
            <a:off x="5760720" y="2340864"/>
            <a:ext cx="2834640" cy="320040"/>
          </a:xfrm>
          <a:prstGeom prst="rect">
            <a:avLst/>
          </a:prstGeom>
          <a:noFill/>
          <a:ln/>
        </p:spPr>
        <p:txBody>
          <a:bodyPr wrap="square" rtlCol="0" anchor="ctr"/>
          <a:lstStyle/>
          <a:p>
            <a:pPr marL="0" indent="0">
              <a:buNone/>
            </a:pPr>
            <a:r>
              <a:rPr lang="en-US" sz="1000" b="1" dirty="0">
                <a:solidFill>
                  <a:srgbClr val="E63946"/>
                </a:solidFill>
                <a:latin typeface="Calibri" pitchFamily="34" charset="0"/>
                <a:ea typeface="Calibri" pitchFamily="34" charset="-122"/>
                <a:cs typeface="Calibri" pitchFamily="34" charset="-120"/>
              </a:rPr>
              <a:t>Stage, 3-5% missing</a:t>
            </a:r>
            <a:endParaRPr lang="en-US" sz="1000" dirty="0"/>
          </a:p>
        </p:txBody>
      </p:sp>
      <p:sp>
        <p:nvSpPr>
          <p:cNvPr id="11" name="Text 8"/>
          <p:cNvSpPr/>
          <p:nvPr/>
        </p:nvSpPr>
        <p:spPr>
          <a:xfrm>
            <a:off x="5760720" y="2679192"/>
            <a:ext cx="2834640" cy="603504"/>
          </a:xfrm>
          <a:prstGeom prst="rect">
            <a:avLst/>
          </a:prstGeom>
          <a:noFill/>
          <a:ln/>
        </p:spPr>
        <p:txBody>
          <a:bodyPr wrap="square" rtlCol="0" anchor="t"/>
          <a:lstStyle/>
          <a:p>
            <a:pPr marL="0" indent="0">
              <a:buNone/>
            </a:pPr>
            <a:r>
              <a:rPr lang="en-US" sz="950" dirty="0">
                <a:solidFill>
                  <a:srgbClr val="0D1B2A"/>
                </a:solidFill>
                <a:latin typeface="Calibri" pitchFamily="34" charset="0"/>
                <a:ea typeface="Calibri" pitchFamily="34" charset="-122"/>
                <a:cs typeface="Calibri" pitchFamily="34" charset="-120"/>
              </a:rPr>
              <a:t>Low across all three cancers; stage is well recorded. Rows with missing survival time were excluded.</a:t>
            </a:r>
            <a:endParaRPr lang="en-US" sz="950" dirty="0"/>
          </a:p>
        </p:txBody>
      </p:sp>
      <p:sp>
        <p:nvSpPr>
          <p:cNvPr id="12" name="Shape 9"/>
          <p:cNvSpPr/>
          <p:nvPr/>
        </p:nvSpPr>
        <p:spPr>
          <a:xfrm>
            <a:off x="5623560" y="3538728"/>
            <a:ext cx="3063240" cy="1078992"/>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3" name="Shape 10"/>
          <p:cNvSpPr/>
          <p:nvPr/>
        </p:nvSpPr>
        <p:spPr>
          <a:xfrm>
            <a:off x="5623560" y="3538728"/>
            <a:ext cx="73152" cy="1078992"/>
          </a:xfrm>
          <a:prstGeom prst="rect">
            <a:avLst/>
          </a:prstGeom>
          <a:solidFill>
            <a:srgbClr val="2A9D8F"/>
          </a:solidFill>
          <a:ln w="12700">
            <a:solidFill>
              <a:srgbClr val="2A9D8F"/>
            </a:solidFill>
            <a:prstDash val="solid"/>
          </a:ln>
        </p:spPr>
        <p:txBody>
          <a:bodyPr/>
          <a:lstStyle/>
          <a:p>
            <a:endParaRPr lang="en-GB"/>
          </a:p>
        </p:txBody>
      </p:sp>
      <p:sp>
        <p:nvSpPr>
          <p:cNvPr id="14" name="Text 11"/>
          <p:cNvSpPr/>
          <p:nvPr/>
        </p:nvSpPr>
        <p:spPr>
          <a:xfrm>
            <a:off x="5760720" y="3584448"/>
            <a:ext cx="2834640" cy="320040"/>
          </a:xfrm>
          <a:prstGeom prst="rect">
            <a:avLst/>
          </a:prstGeom>
          <a:noFill/>
          <a:ln/>
        </p:spPr>
        <p:txBody>
          <a:bodyPr wrap="square" rtlCol="0" anchor="ctr"/>
          <a:lstStyle/>
          <a:p>
            <a:pPr marL="0" indent="0">
              <a:buNone/>
            </a:pPr>
            <a:r>
              <a:rPr lang="en-US" sz="1000" b="1" dirty="0">
                <a:solidFill>
                  <a:srgbClr val="2A9D8F"/>
                </a:solidFill>
                <a:latin typeface="Calibri" pitchFamily="34" charset="0"/>
                <a:ea typeface="Calibri" pitchFamily="34" charset="-122"/>
                <a:cs typeface="Calibri" pitchFamily="34" charset="-120"/>
              </a:rPr>
              <a:t>Vital status, complete</a:t>
            </a:r>
            <a:endParaRPr lang="en-US" sz="1000" dirty="0"/>
          </a:p>
        </p:txBody>
      </p:sp>
      <p:sp>
        <p:nvSpPr>
          <p:cNvPr id="15" name="Text 12"/>
          <p:cNvSpPr/>
          <p:nvPr/>
        </p:nvSpPr>
        <p:spPr>
          <a:xfrm>
            <a:off x="5760720" y="3922776"/>
            <a:ext cx="2834640" cy="603504"/>
          </a:xfrm>
          <a:prstGeom prst="rect">
            <a:avLst/>
          </a:prstGeom>
          <a:noFill/>
          <a:ln/>
        </p:spPr>
        <p:txBody>
          <a:bodyPr wrap="square" rtlCol="0" anchor="t"/>
          <a:lstStyle/>
          <a:p>
            <a:pPr marL="0" indent="0">
              <a:buNone/>
            </a:pPr>
            <a:r>
              <a:rPr lang="en-US" sz="950" dirty="0">
                <a:solidFill>
                  <a:srgbClr val="0D1B2A"/>
                </a:solidFill>
                <a:latin typeface="Calibri" pitchFamily="34" charset="0"/>
                <a:ea typeface="Calibri" pitchFamily="34" charset="-122"/>
                <a:cs typeface="Calibri" pitchFamily="34" charset="-120"/>
              </a:rPr>
              <a:t>No missing values across all datasets. Reliable event indicator for survival modelling.</a:t>
            </a:r>
            <a:endParaRPr lang="en-US" sz="950" dirty="0"/>
          </a:p>
        </p:txBody>
      </p:sp>
      <p:sp>
        <p:nvSpPr>
          <p:cNvPr id="6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Preprocessing: Key Methodological Decisions</a:t>
            </a:r>
            <a:endParaRPr lang="en-US" sz="2600" dirty="0"/>
          </a:p>
        </p:txBody>
      </p:sp>
      <p:sp>
        <p:nvSpPr>
          <p:cNvPr id="3" name="Shape 1"/>
          <p:cNvSpPr/>
          <p:nvPr/>
        </p:nvSpPr>
        <p:spPr>
          <a:xfrm>
            <a:off x="274320" y="914400"/>
            <a:ext cx="4206240" cy="18288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4" name="Shape 2"/>
          <p:cNvSpPr/>
          <p:nvPr/>
        </p:nvSpPr>
        <p:spPr>
          <a:xfrm>
            <a:off x="274320" y="914400"/>
            <a:ext cx="4206240" cy="64008"/>
          </a:xfrm>
          <a:prstGeom prst="rect">
            <a:avLst/>
          </a:prstGeom>
          <a:solidFill>
            <a:srgbClr val="E63946"/>
          </a:solidFill>
          <a:ln w="12700">
            <a:solidFill>
              <a:srgbClr val="E63946"/>
            </a:solidFill>
            <a:prstDash val="solid"/>
          </a:ln>
        </p:spPr>
        <p:txBody>
          <a:bodyPr/>
          <a:lstStyle/>
          <a:p>
            <a:endParaRPr lang="en-GB"/>
          </a:p>
        </p:txBody>
      </p:sp>
      <p:sp>
        <p:nvSpPr>
          <p:cNvPr id="5" name="Text 3"/>
          <p:cNvSpPr/>
          <p:nvPr/>
        </p:nvSpPr>
        <p:spPr>
          <a:xfrm>
            <a:off x="411480" y="1024128"/>
            <a:ext cx="3931920" cy="365760"/>
          </a:xfrm>
          <a:prstGeom prst="rect">
            <a:avLst/>
          </a:prstGeom>
          <a:noFill/>
          <a:ln/>
        </p:spPr>
        <p:txBody>
          <a:bodyPr wrap="square"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Why exclude rows with missing survival time?</a:t>
            </a:r>
            <a:endParaRPr lang="en-US" sz="1100" dirty="0"/>
          </a:p>
        </p:txBody>
      </p:sp>
      <p:sp>
        <p:nvSpPr>
          <p:cNvPr id="6" name="Text 4"/>
          <p:cNvSpPr/>
          <p:nvPr/>
        </p:nvSpPr>
        <p:spPr>
          <a:xfrm>
            <a:off x="411480" y="1417320"/>
            <a:ext cx="3931920" cy="914400"/>
          </a:xfrm>
          <a:prstGeom prst="rect">
            <a:avLst/>
          </a:prstGeom>
          <a:noFill/>
          <a:ln/>
        </p:spPr>
        <p:txBody>
          <a:bodyPr wrap="square" rtlCol="0" anchor="t"/>
          <a:lstStyle/>
          <a:p>
            <a:r>
              <a:rPr lang="en-GB" sz="1000" dirty="0"/>
              <a:t>Survival time is the outcome, so you can't impute it without making up data. Dropping those rows is the only defensible option. This affects COAD (24 patients, 5%), READ (11, 6%) and STAD (31, 7%).</a:t>
            </a:r>
          </a:p>
        </p:txBody>
      </p:sp>
      <p:sp>
        <p:nvSpPr>
          <p:cNvPr id="7" name="Text 5"/>
          <p:cNvSpPr/>
          <p:nvPr/>
        </p:nvSpPr>
        <p:spPr>
          <a:xfrm>
            <a:off x="411480" y="2423160"/>
            <a:ext cx="3931920" cy="256032"/>
          </a:xfrm>
          <a:prstGeom prst="rect">
            <a:avLst/>
          </a:prstGeom>
          <a:noFill/>
          <a:ln/>
        </p:spPr>
        <p:txBody>
          <a:bodyPr wrap="square" rtlCol="0" anchor="ctr"/>
          <a:lstStyle/>
          <a:p>
            <a:pPr marL="0" indent="0">
              <a:buNone/>
            </a:pPr>
            <a:r>
              <a:rPr lang="en-US" sz="900" i="1" dirty="0">
                <a:solidFill>
                  <a:srgbClr val="8D99AE"/>
                </a:solidFill>
                <a:latin typeface="Calibri" pitchFamily="34" charset="0"/>
                <a:ea typeface="Calibri" pitchFamily="34" charset="-122"/>
                <a:cs typeface="Calibri" pitchFamily="34" charset="-120"/>
              </a:rPr>
              <a:t>Alternative considered: Imputation, rejected</a:t>
            </a:r>
            <a:endParaRPr lang="en-US" sz="900" dirty="0"/>
          </a:p>
        </p:txBody>
      </p:sp>
      <p:sp>
        <p:nvSpPr>
          <p:cNvPr id="8" name="Shape 6"/>
          <p:cNvSpPr/>
          <p:nvPr/>
        </p:nvSpPr>
        <p:spPr>
          <a:xfrm>
            <a:off x="4709160" y="914400"/>
            <a:ext cx="4206240" cy="18288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9" name="Shape 7"/>
          <p:cNvSpPr/>
          <p:nvPr/>
        </p:nvSpPr>
        <p:spPr>
          <a:xfrm>
            <a:off x="4709160" y="914400"/>
            <a:ext cx="4206240" cy="64008"/>
          </a:xfrm>
          <a:prstGeom prst="rect">
            <a:avLst/>
          </a:prstGeom>
          <a:solidFill>
            <a:srgbClr val="1E6091"/>
          </a:solidFill>
          <a:ln w="12700">
            <a:solidFill>
              <a:srgbClr val="1E6091"/>
            </a:solidFill>
            <a:prstDash val="solid"/>
          </a:ln>
        </p:spPr>
        <p:txBody>
          <a:bodyPr/>
          <a:lstStyle/>
          <a:p>
            <a:endParaRPr lang="en-GB"/>
          </a:p>
        </p:txBody>
      </p:sp>
      <p:sp>
        <p:nvSpPr>
          <p:cNvPr id="10" name="Text 8"/>
          <p:cNvSpPr/>
          <p:nvPr/>
        </p:nvSpPr>
        <p:spPr>
          <a:xfrm>
            <a:off x="4846320" y="1024128"/>
            <a:ext cx="3931920" cy="365760"/>
          </a:xfrm>
          <a:prstGeom prst="rect">
            <a:avLst/>
          </a:prstGeom>
          <a:noFill/>
          <a:ln/>
        </p:spPr>
        <p:txBody>
          <a:bodyPr wrap="square" rtlCol="0" anchor="ctr"/>
          <a:lstStyle/>
          <a:p>
            <a:pPr marL="0" indent="0">
              <a:buNone/>
            </a:pPr>
            <a:r>
              <a:rPr lang="en-US" sz="1100" b="1" dirty="0">
                <a:solidFill>
                  <a:srgbClr val="1E6091"/>
                </a:solidFill>
                <a:latin typeface="Calibri" pitchFamily="34" charset="0"/>
                <a:ea typeface="Calibri" pitchFamily="34" charset="-122"/>
                <a:cs typeface="Calibri" pitchFamily="34" charset="-120"/>
              </a:rPr>
              <a:t>Why simplify stage to 4 groups (I to IV)?</a:t>
            </a:r>
            <a:endParaRPr lang="en-US" sz="1100" dirty="0"/>
          </a:p>
        </p:txBody>
      </p:sp>
      <p:sp>
        <p:nvSpPr>
          <p:cNvPr id="11" name="Text 9"/>
          <p:cNvSpPr/>
          <p:nvPr/>
        </p:nvSpPr>
        <p:spPr>
          <a:xfrm>
            <a:off x="4846320" y="1417320"/>
            <a:ext cx="3931920" cy="914400"/>
          </a:xfrm>
          <a:prstGeom prst="rect">
            <a:avLst/>
          </a:prstGeom>
          <a:noFill/>
          <a:ln/>
        </p:spPr>
        <p:txBody>
          <a:bodyPr wrap="square" rtlCol="0" anchor="t"/>
          <a:lstStyle/>
          <a:p>
            <a:r>
              <a:rPr lang="en-GB" sz="1000" dirty="0"/>
              <a:t>TCGA sub-stages like IIA and IIIC create small cell sizes that sap statistical power in log-rank tests. Collapsing them into broader categories is standard practice, following Mondal et al. (2021) and Jiang et al. (2020).</a:t>
            </a:r>
          </a:p>
        </p:txBody>
      </p:sp>
      <p:sp>
        <p:nvSpPr>
          <p:cNvPr id="12" name="Text 10"/>
          <p:cNvSpPr/>
          <p:nvPr/>
        </p:nvSpPr>
        <p:spPr>
          <a:xfrm>
            <a:off x="4846320" y="2423160"/>
            <a:ext cx="3931920" cy="256032"/>
          </a:xfrm>
          <a:prstGeom prst="rect">
            <a:avLst/>
          </a:prstGeom>
          <a:noFill/>
          <a:ln/>
        </p:spPr>
        <p:txBody>
          <a:bodyPr wrap="square" rtlCol="0" anchor="ctr"/>
          <a:lstStyle/>
          <a:p>
            <a:pPr marL="0" indent="0">
              <a:buNone/>
            </a:pPr>
            <a:r>
              <a:rPr lang="en-US" sz="900" i="1" dirty="0">
                <a:solidFill>
                  <a:srgbClr val="8D99AE"/>
                </a:solidFill>
                <a:latin typeface="Calibri" pitchFamily="34" charset="0"/>
                <a:ea typeface="Calibri" pitchFamily="34" charset="-122"/>
                <a:cs typeface="Calibri" pitchFamily="34" charset="-120"/>
              </a:rPr>
              <a:t>Alternative considered: Retain sub-stages, rejected</a:t>
            </a:r>
            <a:endParaRPr lang="en-US" sz="900" dirty="0"/>
          </a:p>
        </p:txBody>
      </p:sp>
      <p:sp>
        <p:nvSpPr>
          <p:cNvPr id="13" name="Shape 11"/>
          <p:cNvSpPr/>
          <p:nvPr/>
        </p:nvSpPr>
        <p:spPr>
          <a:xfrm>
            <a:off x="274320" y="2926080"/>
            <a:ext cx="4206240" cy="18288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4" name="Shape 12"/>
          <p:cNvSpPr/>
          <p:nvPr/>
        </p:nvSpPr>
        <p:spPr>
          <a:xfrm>
            <a:off x="274320" y="2926080"/>
            <a:ext cx="4206240" cy="64008"/>
          </a:xfrm>
          <a:prstGeom prst="rect">
            <a:avLst/>
          </a:prstGeom>
          <a:solidFill>
            <a:srgbClr val="2A9D8F"/>
          </a:solidFill>
          <a:ln w="12700">
            <a:solidFill>
              <a:srgbClr val="2A9D8F"/>
            </a:solidFill>
            <a:prstDash val="solid"/>
          </a:ln>
        </p:spPr>
        <p:txBody>
          <a:bodyPr/>
          <a:lstStyle/>
          <a:p>
            <a:endParaRPr lang="en-GB"/>
          </a:p>
        </p:txBody>
      </p:sp>
      <p:sp>
        <p:nvSpPr>
          <p:cNvPr id="15" name="Text 13"/>
          <p:cNvSpPr/>
          <p:nvPr/>
        </p:nvSpPr>
        <p:spPr>
          <a:xfrm>
            <a:off x="411480" y="3035808"/>
            <a:ext cx="3931920" cy="365760"/>
          </a:xfrm>
          <a:prstGeom prst="rect">
            <a:avLst/>
          </a:prstGeom>
          <a:noFill/>
          <a:ln/>
        </p:spPr>
        <p:txBody>
          <a:bodyPr wrap="square" rtlCol="0" anchor="ctr"/>
          <a:lstStyle/>
          <a:p>
            <a:pPr marL="0" indent="0">
              <a:buNone/>
            </a:pPr>
            <a:r>
              <a:rPr lang="en-US" sz="1100" b="1" dirty="0">
                <a:solidFill>
                  <a:srgbClr val="2A9D8F"/>
                </a:solidFill>
                <a:latin typeface="Calibri" pitchFamily="34" charset="0"/>
                <a:ea typeface="Calibri" pitchFamily="34" charset="-122"/>
                <a:cs typeface="Calibri" pitchFamily="34" charset="-120"/>
              </a:rPr>
              <a:t>Why treat alive patients as censored (not excluded)?</a:t>
            </a:r>
            <a:endParaRPr lang="en-US" sz="1100" dirty="0"/>
          </a:p>
        </p:txBody>
      </p:sp>
      <p:sp>
        <p:nvSpPr>
          <p:cNvPr id="16" name="Text 14"/>
          <p:cNvSpPr/>
          <p:nvPr/>
        </p:nvSpPr>
        <p:spPr>
          <a:xfrm>
            <a:off x="411480" y="3429000"/>
            <a:ext cx="3931920" cy="914400"/>
          </a:xfrm>
          <a:prstGeom prst="rect">
            <a:avLst/>
          </a:prstGeom>
          <a:noFill/>
          <a:ln/>
        </p:spPr>
        <p:txBody>
          <a:bodyPr wrap="square" rtlCol="0" anchor="t"/>
          <a:lstStyle/>
          <a:p>
            <a:r>
              <a:rPr lang="en-GB" sz="1000" dirty="0"/>
              <a:t>Excluding alive patients would introduce survivorship bias, making survival look worse than it is. KM and Cox regression are built specifically to handle censored observations.</a:t>
            </a:r>
          </a:p>
        </p:txBody>
      </p:sp>
      <p:sp>
        <p:nvSpPr>
          <p:cNvPr id="17" name="Text 15"/>
          <p:cNvSpPr/>
          <p:nvPr/>
        </p:nvSpPr>
        <p:spPr>
          <a:xfrm>
            <a:off x="411480" y="4434840"/>
            <a:ext cx="3931920" cy="256032"/>
          </a:xfrm>
          <a:prstGeom prst="rect">
            <a:avLst/>
          </a:prstGeom>
          <a:noFill/>
          <a:ln/>
        </p:spPr>
        <p:txBody>
          <a:bodyPr wrap="square" rtlCol="0" anchor="ctr"/>
          <a:lstStyle/>
          <a:p>
            <a:pPr marL="0" indent="0">
              <a:buNone/>
            </a:pPr>
            <a:r>
              <a:rPr lang="en-US" sz="900" i="1" dirty="0">
                <a:solidFill>
                  <a:srgbClr val="8D99AE"/>
                </a:solidFill>
                <a:latin typeface="Calibri" pitchFamily="34" charset="0"/>
                <a:ea typeface="Calibri" pitchFamily="34" charset="-122"/>
                <a:cs typeface="Calibri" pitchFamily="34" charset="-120"/>
              </a:rPr>
              <a:t>Alternative considered: Exclude alive patients, rejected</a:t>
            </a:r>
            <a:endParaRPr lang="en-US" sz="900" dirty="0"/>
          </a:p>
        </p:txBody>
      </p:sp>
      <p:sp>
        <p:nvSpPr>
          <p:cNvPr id="18" name="Shape 16"/>
          <p:cNvSpPr/>
          <p:nvPr/>
        </p:nvSpPr>
        <p:spPr>
          <a:xfrm>
            <a:off x="4709160" y="2926080"/>
            <a:ext cx="4206240" cy="18288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9" name="Shape 17"/>
          <p:cNvSpPr/>
          <p:nvPr/>
        </p:nvSpPr>
        <p:spPr>
          <a:xfrm>
            <a:off x="4709160" y="2926080"/>
            <a:ext cx="4206240" cy="64008"/>
          </a:xfrm>
          <a:prstGeom prst="rect">
            <a:avLst/>
          </a:prstGeom>
          <a:solidFill>
            <a:srgbClr val="8338EC"/>
          </a:solidFill>
          <a:ln w="12700">
            <a:solidFill>
              <a:srgbClr val="8338EC"/>
            </a:solidFill>
            <a:prstDash val="solid"/>
          </a:ln>
        </p:spPr>
        <p:txBody>
          <a:bodyPr/>
          <a:lstStyle/>
          <a:p>
            <a:endParaRPr lang="en-GB"/>
          </a:p>
        </p:txBody>
      </p:sp>
      <p:sp>
        <p:nvSpPr>
          <p:cNvPr id="20" name="Text 18"/>
          <p:cNvSpPr/>
          <p:nvPr/>
        </p:nvSpPr>
        <p:spPr>
          <a:xfrm>
            <a:off x="4846320" y="3035808"/>
            <a:ext cx="3931920" cy="365760"/>
          </a:xfrm>
          <a:prstGeom prst="rect">
            <a:avLst/>
          </a:prstGeom>
          <a:noFill/>
          <a:ln/>
        </p:spPr>
        <p:txBody>
          <a:bodyPr wrap="square" rtlCol="0" anchor="ctr"/>
          <a:lstStyle/>
          <a:p>
            <a:pPr marL="0" indent="0">
              <a:buNone/>
            </a:pPr>
            <a:r>
              <a:rPr lang="en-US" sz="1100" b="1" dirty="0">
                <a:solidFill>
                  <a:srgbClr val="8338EC"/>
                </a:solidFill>
                <a:latin typeface="Calibri" pitchFamily="34" charset="0"/>
                <a:ea typeface="Calibri" pitchFamily="34" charset="-122"/>
                <a:cs typeface="Calibri" pitchFamily="34" charset="-120"/>
              </a:rPr>
              <a:t>Why use median survival, not mean?</a:t>
            </a:r>
            <a:endParaRPr lang="en-US" sz="1100" dirty="0"/>
          </a:p>
        </p:txBody>
      </p:sp>
      <p:sp>
        <p:nvSpPr>
          <p:cNvPr id="21" name="Text 19"/>
          <p:cNvSpPr/>
          <p:nvPr/>
        </p:nvSpPr>
        <p:spPr>
          <a:xfrm>
            <a:off x="4846320" y="3429000"/>
            <a:ext cx="3931920" cy="914400"/>
          </a:xfrm>
          <a:prstGeom prst="rect">
            <a:avLst/>
          </a:prstGeom>
          <a:noFill/>
          <a:ln/>
        </p:spPr>
        <p:txBody>
          <a:bodyPr wrap="square" rtlCol="0" anchor="t"/>
          <a:lstStyle/>
          <a:p>
            <a:r>
              <a:rPr lang="en-GB" sz="1000" dirty="0"/>
              <a:t>Survival data is right-skewed with long tails, and the mean gets pulled around by extreme values. The median is more robust and is the standard reporting metric in the survival analysis literature.</a:t>
            </a:r>
          </a:p>
        </p:txBody>
      </p:sp>
      <p:sp>
        <p:nvSpPr>
          <p:cNvPr id="22" name="Text 20"/>
          <p:cNvSpPr/>
          <p:nvPr/>
        </p:nvSpPr>
        <p:spPr>
          <a:xfrm>
            <a:off x="4846320" y="4434840"/>
            <a:ext cx="3931920" cy="256032"/>
          </a:xfrm>
          <a:prstGeom prst="rect">
            <a:avLst/>
          </a:prstGeom>
          <a:noFill/>
          <a:ln/>
        </p:spPr>
        <p:txBody>
          <a:bodyPr wrap="square" rtlCol="0" anchor="ctr"/>
          <a:lstStyle/>
          <a:p>
            <a:pPr marL="0" indent="0">
              <a:buNone/>
            </a:pPr>
            <a:r>
              <a:rPr lang="en-US" sz="900" i="1" dirty="0">
                <a:solidFill>
                  <a:srgbClr val="8D99AE"/>
                </a:solidFill>
                <a:latin typeface="Calibri" pitchFamily="34" charset="0"/>
                <a:ea typeface="Calibri" pitchFamily="34" charset="-122"/>
                <a:cs typeface="Calibri" pitchFamily="34" charset="-120"/>
              </a:rPr>
              <a:t>Alternative considered: Mean survival, rejected</a:t>
            </a:r>
            <a:endParaRPr lang="en-US" sz="900" dirty="0"/>
          </a:p>
        </p:txBody>
      </p:sp>
      <p:sp>
        <p:nvSpPr>
          <p:cNvPr id="72"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EDA: Observed-Time Distributions</a:t>
            </a:r>
            <a:endParaRPr lang="en-US" sz="2600" dirty="0"/>
          </a:p>
        </p:txBody>
      </p:sp>
      <p:pic>
        <p:nvPicPr>
          <p:cNvPr id="3" name="Image 0"/>
          <p:cNvPicPr>
            <a:picLocks noChangeAspect="1"/>
          </p:cNvPicPr>
          <p:nvPr/>
        </p:nvPicPr>
        <p:blipFill>
          <a:blip r:embed="rId3"/>
          <a:stretch>
            <a:fillRect/>
          </a:stretch>
        </p:blipFill>
        <p:spPr>
          <a:xfrm>
            <a:off x="274320" y="822960"/>
            <a:ext cx="8595360" cy="2971800"/>
          </a:xfrm>
          <a:prstGeom prst="rect">
            <a:avLst/>
          </a:prstGeom>
        </p:spPr>
      </p:pic>
      <p:sp>
        <p:nvSpPr>
          <p:cNvPr id="4" name="Shape 1"/>
          <p:cNvSpPr/>
          <p:nvPr/>
        </p:nvSpPr>
        <p:spPr>
          <a:xfrm>
            <a:off x="274320" y="3931920"/>
            <a:ext cx="109728" cy="502920"/>
          </a:xfrm>
          <a:prstGeom prst="rect">
            <a:avLst/>
          </a:prstGeom>
          <a:solidFill>
            <a:srgbClr val="1E6091"/>
          </a:solidFill>
          <a:ln w="12700">
            <a:solidFill>
              <a:srgbClr val="1E6091"/>
            </a:solidFill>
            <a:prstDash val="solid"/>
          </a:ln>
        </p:spPr>
        <p:txBody>
          <a:bodyPr/>
          <a:lstStyle/>
          <a:p>
            <a:endParaRPr lang="en-GB"/>
          </a:p>
        </p:txBody>
      </p:sp>
      <p:sp>
        <p:nvSpPr>
          <p:cNvPr id="5" name="Text 2"/>
          <p:cNvSpPr/>
          <p:nvPr/>
        </p:nvSpPr>
        <p:spPr>
          <a:xfrm>
            <a:off x="45720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COAD: right-skewed, median observed 672 days, long tail to 4,500 days</a:t>
            </a:r>
            <a:endParaRPr lang="en-US" sz="1000" dirty="0"/>
          </a:p>
        </p:txBody>
      </p:sp>
      <p:sp>
        <p:nvSpPr>
          <p:cNvPr id="6" name="Shape 3"/>
          <p:cNvSpPr/>
          <p:nvPr/>
        </p:nvSpPr>
        <p:spPr>
          <a:xfrm>
            <a:off x="3200400" y="3931920"/>
            <a:ext cx="109728" cy="502920"/>
          </a:xfrm>
          <a:prstGeom prst="rect">
            <a:avLst/>
          </a:prstGeom>
          <a:solidFill>
            <a:srgbClr val="2A9D8F"/>
          </a:solidFill>
          <a:ln w="12700">
            <a:solidFill>
              <a:srgbClr val="2A9D8F"/>
            </a:solidFill>
            <a:prstDash val="solid"/>
          </a:ln>
        </p:spPr>
        <p:txBody>
          <a:bodyPr/>
          <a:lstStyle/>
          <a:p>
            <a:endParaRPr lang="en-GB"/>
          </a:p>
        </p:txBody>
      </p:sp>
      <p:sp>
        <p:nvSpPr>
          <p:cNvPr id="7" name="Text 4"/>
          <p:cNvSpPr/>
          <p:nvPr/>
        </p:nvSpPr>
        <p:spPr>
          <a:xfrm>
            <a:off x="338328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READ: similar spread to COAD, median observed 638 days</a:t>
            </a:r>
            <a:endParaRPr lang="en-US" sz="1000" dirty="0"/>
          </a:p>
        </p:txBody>
      </p:sp>
      <p:sp>
        <p:nvSpPr>
          <p:cNvPr id="8" name="Shape 5"/>
          <p:cNvSpPr/>
          <p:nvPr/>
        </p:nvSpPr>
        <p:spPr>
          <a:xfrm>
            <a:off x="6126480" y="3931920"/>
            <a:ext cx="109728" cy="502920"/>
          </a:xfrm>
          <a:prstGeom prst="rect">
            <a:avLst/>
          </a:prstGeom>
          <a:solidFill>
            <a:srgbClr val="E63946"/>
          </a:solidFill>
          <a:ln w="12700">
            <a:solidFill>
              <a:srgbClr val="E63946"/>
            </a:solidFill>
            <a:prstDash val="solid"/>
          </a:ln>
        </p:spPr>
        <p:txBody>
          <a:bodyPr/>
          <a:lstStyle/>
          <a:p>
            <a:endParaRPr lang="en-GB"/>
          </a:p>
        </p:txBody>
      </p:sp>
      <p:sp>
        <p:nvSpPr>
          <p:cNvPr id="9" name="Text 6"/>
          <p:cNvSpPr/>
          <p:nvPr/>
        </p:nvSpPr>
        <p:spPr>
          <a:xfrm>
            <a:off x="630936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STAD: sharply peaked early, median observed only 450 days, markedly worse prognosis</a:t>
            </a:r>
            <a:endParaRPr lang="en-US" sz="1000" dirty="0"/>
          </a:p>
        </p:txBody>
      </p:sp>
      <p:sp>
        <p:nvSpPr>
          <p:cNvPr id="10" name="Text 7"/>
          <p:cNvSpPr/>
          <p:nvPr/>
        </p:nvSpPr>
        <p:spPr>
          <a:xfrm>
            <a:off x="274320" y="4572000"/>
            <a:ext cx="8595360" cy="365760"/>
          </a:xfrm>
          <a:prstGeom prst="rect">
            <a:avLst/>
          </a:prstGeom>
          <a:noFill/>
          <a:ln/>
        </p:spPr>
        <p:txBody>
          <a:bodyPr wrap="square" rtlCol="0" anchor="ctr"/>
          <a:lstStyle/>
          <a:p>
            <a:pPr marL="0" indent="0">
              <a:buNone/>
            </a:pPr>
            <a:r>
              <a:rPr lang="en-US" sz="1000" i="1" dirty="0">
                <a:solidFill>
                  <a:srgbClr val="8D99AE"/>
                </a:solidFill>
                <a:latin typeface="Calibri" pitchFamily="34" charset="0"/>
                <a:ea typeface="Calibri" pitchFamily="34" charset="-122"/>
                <a:cs typeface="Calibri" pitchFamily="34" charset="-120"/>
              </a:rPr>
              <a:t>Stomach cancer patients have a median observed time ~30% shorter than colorectal, a key finding that drives the KM curve differences.</a:t>
            </a:r>
            <a:endParaRPr lang="en-US" sz="1000" dirty="0"/>
          </a:p>
        </p:txBody>
      </p:sp>
      <p:sp>
        <p:nvSpPr>
          <p:cNvPr id="60"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EDA: Stage Distribution &amp; Death Rate</a:t>
            </a:r>
            <a:endParaRPr lang="en-US" sz="2600" dirty="0"/>
          </a:p>
        </p:txBody>
      </p:sp>
      <p:pic>
        <p:nvPicPr>
          <p:cNvPr id="3" name="Image 0"/>
          <p:cNvPicPr>
            <a:picLocks noChangeAspect="1"/>
          </p:cNvPicPr>
          <p:nvPr/>
        </p:nvPicPr>
        <p:blipFill>
          <a:blip r:embed="rId3"/>
          <a:stretch>
            <a:fillRect/>
          </a:stretch>
        </p:blipFill>
        <p:spPr>
          <a:xfrm>
            <a:off x="274320" y="777240"/>
            <a:ext cx="5669280" cy="1783080"/>
          </a:xfrm>
          <a:prstGeom prst="rect">
            <a:avLst/>
          </a:prstGeom>
        </p:spPr>
      </p:pic>
      <p:pic>
        <p:nvPicPr>
          <p:cNvPr id="4" name="Image 1"/>
          <p:cNvPicPr>
            <a:picLocks noChangeAspect="1"/>
          </p:cNvPicPr>
          <p:nvPr/>
        </p:nvPicPr>
        <p:blipFill>
          <a:blip r:embed="rId4"/>
          <a:stretch>
            <a:fillRect/>
          </a:stretch>
        </p:blipFill>
        <p:spPr>
          <a:xfrm>
            <a:off x="274320" y="2651760"/>
            <a:ext cx="4114800" cy="2286000"/>
          </a:xfrm>
          <a:prstGeom prst="rect">
            <a:avLst/>
          </a:prstGeom>
        </p:spPr>
      </p:pic>
      <p:sp>
        <p:nvSpPr>
          <p:cNvPr id="5" name="Shape 1"/>
          <p:cNvSpPr/>
          <p:nvPr/>
        </p:nvSpPr>
        <p:spPr>
          <a:xfrm>
            <a:off x="6080760" y="868680"/>
            <a:ext cx="73152" cy="457200"/>
          </a:xfrm>
          <a:prstGeom prst="rect">
            <a:avLst/>
          </a:prstGeom>
          <a:solidFill>
            <a:srgbClr val="E63946"/>
          </a:solidFill>
          <a:ln w="12700">
            <a:solidFill>
              <a:srgbClr val="E63946"/>
            </a:solidFill>
            <a:prstDash val="solid"/>
          </a:ln>
        </p:spPr>
        <p:txBody>
          <a:bodyPr/>
          <a:lstStyle/>
          <a:p>
            <a:endParaRPr lang="en-GB"/>
          </a:p>
        </p:txBody>
      </p:sp>
      <p:sp>
        <p:nvSpPr>
          <p:cNvPr id="6" name="Text 2"/>
          <p:cNvSpPr/>
          <p:nvPr/>
        </p:nvSpPr>
        <p:spPr>
          <a:xfrm>
            <a:off x="6263640" y="841248"/>
            <a:ext cx="251460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STAD is Stage III-dominant; COAD is mostly Stage II; READ splits II/III late diagnosis is common</a:t>
            </a:r>
            <a:endParaRPr lang="en-US" sz="1000" dirty="0"/>
          </a:p>
        </p:txBody>
      </p:sp>
      <p:sp>
        <p:nvSpPr>
          <p:cNvPr id="7" name="Shape 3"/>
          <p:cNvSpPr/>
          <p:nvPr/>
        </p:nvSpPr>
        <p:spPr>
          <a:xfrm>
            <a:off x="6080760" y="1435608"/>
            <a:ext cx="73152" cy="457200"/>
          </a:xfrm>
          <a:prstGeom prst="rect">
            <a:avLst/>
          </a:prstGeom>
          <a:solidFill>
            <a:srgbClr val="1E6091"/>
          </a:solidFill>
          <a:ln w="12700">
            <a:solidFill>
              <a:srgbClr val="1E6091"/>
            </a:solidFill>
            <a:prstDash val="solid"/>
          </a:ln>
        </p:spPr>
        <p:txBody>
          <a:bodyPr/>
          <a:lstStyle/>
          <a:p>
            <a:endParaRPr lang="en-GB"/>
          </a:p>
        </p:txBody>
      </p:sp>
      <p:sp>
        <p:nvSpPr>
          <p:cNvPr id="8" name="Text 4"/>
          <p:cNvSpPr/>
          <p:nvPr/>
        </p:nvSpPr>
        <p:spPr>
          <a:xfrm>
            <a:off x="6263640" y="1408176"/>
            <a:ext cx="251460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STAD has the smallest Stage IV share (10%) vs COAD (14%) and READ (16%)</a:t>
            </a:r>
            <a:endParaRPr lang="en-US" sz="1000" dirty="0"/>
          </a:p>
        </p:txBody>
      </p:sp>
      <p:sp>
        <p:nvSpPr>
          <p:cNvPr id="9" name="Shape 5"/>
          <p:cNvSpPr/>
          <p:nvPr/>
        </p:nvSpPr>
        <p:spPr>
          <a:xfrm>
            <a:off x="6080760" y="2002536"/>
            <a:ext cx="73152" cy="457200"/>
          </a:xfrm>
          <a:prstGeom prst="rect">
            <a:avLst/>
          </a:prstGeom>
          <a:solidFill>
            <a:srgbClr val="2A9D8F"/>
          </a:solidFill>
          <a:ln w="12700">
            <a:solidFill>
              <a:srgbClr val="2A9D8F"/>
            </a:solidFill>
            <a:prstDash val="solid"/>
          </a:ln>
        </p:spPr>
        <p:txBody>
          <a:bodyPr/>
          <a:lstStyle/>
          <a:p>
            <a:endParaRPr lang="en-GB"/>
          </a:p>
        </p:txBody>
      </p:sp>
      <p:sp>
        <p:nvSpPr>
          <p:cNvPr id="10" name="Text 6"/>
          <p:cNvSpPr/>
          <p:nvPr/>
        </p:nvSpPr>
        <p:spPr>
          <a:xfrm>
            <a:off x="6263640" y="1975104"/>
            <a:ext cx="251460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Stage well recorded across all three (3-5% missing)</a:t>
            </a:r>
            <a:endParaRPr lang="en-US" sz="1000" dirty="0"/>
          </a:p>
        </p:txBody>
      </p:sp>
      <p:sp>
        <p:nvSpPr>
          <p:cNvPr id="11" name="Shape 7"/>
          <p:cNvSpPr/>
          <p:nvPr/>
        </p:nvSpPr>
        <p:spPr>
          <a:xfrm>
            <a:off x="4526280" y="2651760"/>
            <a:ext cx="4251960" cy="22860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2" name="Text 8"/>
          <p:cNvSpPr/>
          <p:nvPr/>
        </p:nvSpPr>
        <p:spPr>
          <a:xfrm>
            <a:off x="4663440" y="2743200"/>
            <a:ext cx="3931920" cy="36576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Key Finding</a:t>
            </a:r>
            <a:endParaRPr lang="en-US" sz="1300" dirty="0"/>
          </a:p>
        </p:txBody>
      </p:sp>
      <p:sp>
        <p:nvSpPr>
          <p:cNvPr id="13" name="Text 9"/>
          <p:cNvSpPr/>
          <p:nvPr/>
        </p:nvSpPr>
        <p:spPr>
          <a:xfrm>
            <a:off x="4663440" y="3154680"/>
            <a:ext cx="3931920" cy="1645920"/>
          </a:xfrm>
          <a:prstGeom prst="rect">
            <a:avLst/>
          </a:prstGeom>
          <a:noFill/>
          <a:ln/>
        </p:spPr>
        <p:txBody>
          <a:bodyPr wrap="square" rtlCol="0" anchor="t"/>
          <a:lstStyle/>
          <a:p>
            <a:pPr marL="0" indent="0">
              <a:buNone/>
            </a:pPr>
            <a:r>
              <a:rPr lang="en-US" sz="1050" dirty="0">
                <a:solidFill>
                  <a:srgbClr val="0D1B2A"/>
                </a:solidFill>
                <a:latin typeface="Calibri" pitchFamily="34" charset="0"/>
                <a:ea typeface="Calibri" pitchFamily="34" charset="-122"/>
                <a:cs typeface="Calibri" pitchFamily="34" charset="-120"/>
              </a:rPr>
              <a:t>STAD death rate (40.8%) is more than double READ (16.8%) and markedly higher than COAD (21.7%). This difference is not explained by age or stage distribution, it reflects the inherently poorer prognosis of gastric cancer, consistent with Mondal et al. (2021).</a:t>
            </a:r>
            <a:endParaRPr lang="en-US" sz="1050" dirty="0"/>
          </a:p>
        </p:txBody>
      </p:sp>
      <p:sp>
        <p:nvSpPr>
          <p:cNvPr id="63"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EDA: Summary Statistics</a:t>
            </a:r>
            <a:endParaRPr lang="en-US" sz="2600" dirty="0"/>
          </a:p>
        </p:txBody>
      </p:sp>
      <p:pic>
        <p:nvPicPr>
          <p:cNvPr id="3" name="Image 0"/>
          <p:cNvPicPr>
            <a:picLocks noChangeAspect="1"/>
          </p:cNvPicPr>
          <p:nvPr/>
        </p:nvPicPr>
        <p:blipFill>
          <a:blip r:embed="rId3"/>
          <a:stretch>
            <a:fillRect/>
          </a:stretch>
        </p:blipFill>
        <p:spPr>
          <a:xfrm>
            <a:off x="457200" y="822960"/>
            <a:ext cx="8229600" cy="2926080"/>
          </a:xfrm>
          <a:prstGeom prst="rect">
            <a:avLst/>
          </a:prstGeom>
        </p:spPr>
      </p:pic>
      <p:sp>
        <p:nvSpPr>
          <p:cNvPr id="4" name="Text 1"/>
          <p:cNvSpPr/>
          <p:nvPr/>
        </p:nvSpPr>
        <p:spPr>
          <a:xfrm>
            <a:off x="457200" y="3840480"/>
            <a:ext cx="822960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Interpretation</a:t>
            </a:r>
            <a:endParaRPr lang="en-US" sz="1300" dirty="0"/>
          </a:p>
        </p:txBody>
      </p:sp>
      <p:sp>
        <p:nvSpPr>
          <p:cNvPr id="5" name="Text 2"/>
          <p:cNvSpPr/>
          <p:nvPr/>
        </p:nvSpPr>
        <p:spPr>
          <a:xfrm>
            <a:off x="457200" y="4160520"/>
            <a:ext cx="8229600" cy="7772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Median observed time in stomach cancer (450 days) is around 30% shorter than colorectal cancers (638-672 days). Age profiles are near-identical across cancers (mean 64-66 years), confirming age is not a confounding factor in cross-cancer survival comparisons. Stage is well recorded across all three cancers (3-5% missing).</a:t>
            </a:r>
            <a:endParaRPr lang="en-US" sz="1100" dirty="0"/>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The Cross-Cohort Comparison Problem</a:t>
            </a:r>
            <a:endParaRPr lang="en-US" sz="2600" dirty="0"/>
          </a:p>
        </p:txBody>
      </p:sp>
      <p:sp>
        <p:nvSpPr>
          <p:cNvPr id="3" name="Shape 1"/>
          <p:cNvSpPr/>
          <p:nvPr/>
        </p:nvSpPr>
        <p:spPr>
          <a:xfrm>
            <a:off x="274320" y="841248"/>
            <a:ext cx="8595360" cy="960120"/>
          </a:xfrm>
          <a:prstGeom prst="rect">
            <a:avLst/>
          </a:prstGeom>
          <a:solidFill>
            <a:srgbClr val="FFF0F0"/>
          </a:solidFill>
          <a:ln w="12700">
            <a:solidFill>
              <a:srgbClr val="E63946"/>
            </a:solidFill>
            <a:prstDash val="solid"/>
          </a:ln>
        </p:spPr>
        <p:txBody>
          <a:bodyPr/>
          <a:lstStyle/>
          <a:p>
            <a:endParaRPr lang="en-GB"/>
          </a:p>
        </p:txBody>
      </p:sp>
      <p:sp>
        <p:nvSpPr>
          <p:cNvPr id="4" name="Text 2"/>
          <p:cNvSpPr/>
          <p:nvPr/>
        </p:nvSpPr>
        <p:spPr>
          <a:xfrm>
            <a:off x="457200" y="886968"/>
            <a:ext cx="8229600" cy="32004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  The Problem</a:t>
            </a:r>
            <a:endParaRPr lang="en-US" sz="1200" dirty="0"/>
          </a:p>
        </p:txBody>
      </p:sp>
      <p:sp>
        <p:nvSpPr>
          <p:cNvPr id="5" name="Text 3"/>
          <p:cNvSpPr/>
          <p:nvPr/>
        </p:nvSpPr>
        <p:spPr>
          <a:xfrm>
            <a:off x="457200" y="1188720"/>
            <a:ext cx="8229600" cy="502920"/>
          </a:xfrm>
          <a:prstGeom prst="rect">
            <a:avLst/>
          </a:prstGeom>
          <a:noFill/>
          <a:ln/>
        </p:spPr>
        <p:txBody>
          <a:bodyPr wrap="square" rtlCol="0" anchor="ctr"/>
          <a:lstStyle/>
          <a:p>
            <a:r>
              <a:rPr lang="en-GB" sz="1050" dirty="0"/>
              <a:t>COAD/READ and STAD are completely separate patient cohorts, with no patient appearing in both. Comparing their survival curves directly risks mistaking cohort differences, things like clinical protocol, follow-up duration and demographics, for real biological differences in cancer prognosis.</a:t>
            </a:r>
          </a:p>
        </p:txBody>
      </p:sp>
      <p:sp>
        <p:nvSpPr>
          <p:cNvPr id="6" name="Text 4"/>
          <p:cNvSpPr/>
          <p:nvPr/>
        </p:nvSpPr>
        <p:spPr>
          <a:xfrm>
            <a:off x="274320" y="1920240"/>
            <a:ext cx="8595360" cy="36576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Our 4-Step Strategy  (informed by Saegusa et al., 2021)</a:t>
            </a:r>
            <a:endParaRPr lang="en-US" sz="1300" dirty="0"/>
          </a:p>
        </p:txBody>
      </p:sp>
      <p:sp>
        <p:nvSpPr>
          <p:cNvPr id="7" name="Shape 5"/>
          <p:cNvSpPr/>
          <p:nvPr/>
        </p:nvSpPr>
        <p:spPr>
          <a:xfrm>
            <a:off x="274320" y="2377440"/>
            <a:ext cx="4206240" cy="11430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8" name="Text 6"/>
          <p:cNvSpPr/>
          <p:nvPr/>
        </p:nvSpPr>
        <p:spPr>
          <a:xfrm>
            <a:off x="365760" y="2450592"/>
            <a:ext cx="502920" cy="457200"/>
          </a:xfrm>
          <a:prstGeom prst="rect">
            <a:avLst/>
          </a:prstGeom>
          <a:noFill/>
          <a:ln/>
        </p:spPr>
        <p:txBody>
          <a:bodyPr wrap="square" rtlCol="0" anchor="ctr"/>
          <a:lstStyle/>
          <a:p>
            <a:pPr marL="0" indent="0">
              <a:buNone/>
            </a:pPr>
            <a:r>
              <a:rPr lang="en-US" sz="2200" b="1" dirty="0">
                <a:solidFill>
                  <a:srgbClr val="1E6091"/>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914400" y="2468880"/>
            <a:ext cx="3429000" cy="365760"/>
          </a:xfrm>
          <a:prstGeom prst="rect">
            <a:avLst/>
          </a:prstGeom>
          <a:noFill/>
          <a:ln/>
        </p:spPr>
        <p:txBody>
          <a:bodyPr wrap="square" rtlCol="0" anchor="ctr"/>
          <a:lstStyle/>
          <a:p>
            <a:pPr marL="0" indent="0">
              <a:buNone/>
            </a:pPr>
            <a:r>
              <a:rPr lang="en-US" sz="1100" b="1" dirty="0">
                <a:solidFill>
                  <a:srgbClr val="1E6091"/>
                </a:solidFill>
                <a:latin typeface="Calibri" pitchFamily="34" charset="0"/>
                <a:ea typeface="Calibri" pitchFamily="34" charset="-122"/>
                <a:cs typeface="Calibri" pitchFamily="34" charset="-120"/>
              </a:rPr>
              <a:t>Analyse each cancer separately first</a:t>
            </a:r>
            <a:endParaRPr lang="en-US" sz="1100" dirty="0"/>
          </a:p>
        </p:txBody>
      </p:sp>
      <p:sp>
        <p:nvSpPr>
          <p:cNvPr id="10" name="Text 8"/>
          <p:cNvSpPr/>
          <p:nvPr/>
        </p:nvSpPr>
        <p:spPr>
          <a:xfrm>
            <a:off x="914400" y="2852928"/>
            <a:ext cx="3429000" cy="594360"/>
          </a:xfrm>
          <a:prstGeom prst="rect">
            <a:avLst/>
          </a:prstGeom>
          <a:noFill/>
          <a:ln/>
        </p:spPr>
        <p:txBody>
          <a:bodyPr wrap="square" rtlCol="0" anchor="t"/>
          <a:lstStyle/>
          <a:p>
            <a:pPr marL="0" indent="0">
              <a:buNone/>
            </a:pPr>
            <a:r>
              <a:rPr lang="en-US" sz="1000" dirty="0">
                <a:solidFill>
                  <a:srgbClr val="0D1B2A"/>
                </a:solidFill>
                <a:latin typeface="Calibri" pitchFamily="34" charset="0"/>
                <a:ea typeface="Calibri" pitchFamily="34" charset="-122"/>
                <a:cs typeface="Calibri" pitchFamily="34" charset="-120"/>
              </a:rPr>
              <a:t>KM, Cox, and RF models built independently for COAD/READ and STAD before any cross-cancer comparison.</a:t>
            </a:r>
            <a:endParaRPr lang="en-US" sz="1000" dirty="0"/>
          </a:p>
        </p:txBody>
      </p:sp>
      <p:sp>
        <p:nvSpPr>
          <p:cNvPr id="11" name="Shape 9"/>
          <p:cNvSpPr/>
          <p:nvPr/>
        </p:nvSpPr>
        <p:spPr>
          <a:xfrm>
            <a:off x="4709160" y="2377440"/>
            <a:ext cx="4206240" cy="11430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2" name="Text 10"/>
          <p:cNvSpPr/>
          <p:nvPr/>
        </p:nvSpPr>
        <p:spPr>
          <a:xfrm>
            <a:off x="4800600" y="2450592"/>
            <a:ext cx="502920" cy="457200"/>
          </a:xfrm>
          <a:prstGeom prst="rect">
            <a:avLst/>
          </a:prstGeom>
          <a:noFill/>
          <a:ln/>
        </p:spPr>
        <p:txBody>
          <a:bodyPr wrap="square" rtlCol="0" anchor="ctr"/>
          <a:lstStyle/>
          <a:p>
            <a:pPr marL="0" indent="0">
              <a:buNone/>
            </a:pPr>
            <a:r>
              <a:rPr lang="en-US" sz="2200" b="1" dirty="0">
                <a:solidFill>
                  <a:srgbClr val="2A9D8F"/>
                </a:solidFill>
                <a:latin typeface="Calibri" pitchFamily="34" charset="0"/>
                <a:ea typeface="Calibri" pitchFamily="34" charset="-122"/>
                <a:cs typeface="Calibri" pitchFamily="34" charset="-120"/>
              </a:rPr>
              <a:t>02</a:t>
            </a:r>
            <a:endParaRPr lang="en-US" sz="2200" dirty="0"/>
          </a:p>
        </p:txBody>
      </p:sp>
      <p:sp>
        <p:nvSpPr>
          <p:cNvPr id="13" name="Text 11"/>
          <p:cNvSpPr/>
          <p:nvPr/>
        </p:nvSpPr>
        <p:spPr>
          <a:xfrm>
            <a:off x="5349240" y="2468880"/>
            <a:ext cx="3429000" cy="365760"/>
          </a:xfrm>
          <a:prstGeom prst="rect">
            <a:avLst/>
          </a:prstGeom>
          <a:noFill/>
          <a:ln/>
        </p:spPr>
        <p:txBody>
          <a:bodyPr wrap="square" rtlCol="0" anchor="ctr"/>
          <a:lstStyle/>
          <a:p>
            <a:pPr marL="0" indent="0">
              <a:buNone/>
            </a:pPr>
            <a:r>
              <a:rPr lang="en-US" sz="1100" b="1" dirty="0">
                <a:solidFill>
                  <a:srgbClr val="2A9D8F"/>
                </a:solidFill>
                <a:latin typeface="Calibri" pitchFamily="34" charset="0"/>
                <a:ea typeface="Calibri" pitchFamily="34" charset="-122"/>
                <a:cs typeface="Calibri" pitchFamily="34" charset="-120"/>
              </a:rPr>
              <a:t>Compare trends, not absolute values</a:t>
            </a:r>
            <a:endParaRPr lang="en-US" sz="1100" dirty="0"/>
          </a:p>
        </p:txBody>
      </p:sp>
      <p:sp>
        <p:nvSpPr>
          <p:cNvPr id="14" name="Text 12"/>
          <p:cNvSpPr/>
          <p:nvPr/>
        </p:nvSpPr>
        <p:spPr>
          <a:xfrm>
            <a:off x="5349240" y="2852928"/>
            <a:ext cx="3429000" cy="594360"/>
          </a:xfrm>
          <a:prstGeom prst="rect">
            <a:avLst/>
          </a:prstGeom>
          <a:noFill/>
          <a:ln/>
        </p:spPr>
        <p:txBody>
          <a:bodyPr wrap="square" rtlCol="0" anchor="t"/>
          <a:lstStyle/>
          <a:p>
            <a:r>
              <a:rPr lang="en-GB" sz="1000" dirty="0"/>
              <a:t>Focus on the direction and magnitude of covariate effects, like the HR for Stage IV versus I, rather than raw median survival times.</a:t>
            </a:r>
          </a:p>
        </p:txBody>
      </p:sp>
      <p:sp>
        <p:nvSpPr>
          <p:cNvPr id="15" name="Shape 13"/>
          <p:cNvSpPr/>
          <p:nvPr/>
        </p:nvSpPr>
        <p:spPr>
          <a:xfrm>
            <a:off x="274320" y="3657600"/>
            <a:ext cx="4206240" cy="11430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6" name="Text 14"/>
          <p:cNvSpPr/>
          <p:nvPr/>
        </p:nvSpPr>
        <p:spPr>
          <a:xfrm>
            <a:off x="365760" y="3730752"/>
            <a:ext cx="502920" cy="457200"/>
          </a:xfrm>
          <a:prstGeom prst="rect">
            <a:avLst/>
          </a:prstGeom>
          <a:noFill/>
          <a:ln/>
        </p:spPr>
        <p:txBody>
          <a:bodyPr wrap="square" rtlCol="0" anchor="ctr"/>
          <a:lstStyle/>
          <a:p>
            <a:pPr marL="0" indent="0">
              <a:buNone/>
            </a:pPr>
            <a:r>
              <a:rPr lang="en-US" sz="2200" b="1" dirty="0">
                <a:solidFill>
                  <a:srgbClr val="8338EC"/>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914400" y="3749040"/>
            <a:ext cx="3429000" cy="365760"/>
          </a:xfrm>
          <a:prstGeom prst="rect">
            <a:avLst/>
          </a:prstGeom>
          <a:noFill/>
          <a:ln/>
        </p:spPr>
        <p:txBody>
          <a:bodyPr wrap="square" rtlCol="0" anchor="ctr"/>
          <a:lstStyle/>
          <a:p>
            <a:pPr marL="0" indent="0">
              <a:buNone/>
            </a:pPr>
            <a:r>
              <a:rPr lang="en-US" sz="1100" b="1" dirty="0">
                <a:solidFill>
                  <a:srgbClr val="8338EC"/>
                </a:solidFill>
                <a:latin typeface="Calibri" pitchFamily="34" charset="0"/>
                <a:ea typeface="Calibri" pitchFamily="34" charset="-122"/>
                <a:cs typeface="Calibri" pitchFamily="34" charset="-120"/>
              </a:rPr>
              <a:t>Standardise covariates</a:t>
            </a:r>
            <a:endParaRPr lang="en-US" sz="1100" dirty="0"/>
          </a:p>
        </p:txBody>
      </p:sp>
      <p:sp>
        <p:nvSpPr>
          <p:cNvPr id="18" name="Text 16"/>
          <p:cNvSpPr/>
          <p:nvPr/>
        </p:nvSpPr>
        <p:spPr>
          <a:xfrm>
            <a:off x="914400" y="4133088"/>
            <a:ext cx="3429000" cy="594360"/>
          </a:xfrm>
          <a:prstGeom prst="rect">
            <a:avLst/>
          </a:prstGeom>
          <a:noFill/>
          <a:ln/>
        </p:spPr>
        <p:txBody>
          <a:bodyPr wrap="square" rtlCol="0" anchor="t"/>
          <a:lstStyle/>
          <a:p>
            <a:r>
              <a:rPr lang="en-GB" sz="1000" dirty="0"/>
              <a:t>Age profiles are near-identical across cohorts (mean 64 to 66 years), so it's not a confounder. The gender skew in STAD (65% male) is controlled for in the Cox model.</a:t>
            </a:r>
          </a:p>
        </p:txBody>
      </p:sp>
      <p:sp>
        <p:nvSpPr>
          <p:cNvPr id="19" name="Shape 17"/>
          <p:cNvSpPr/>
          <p:nvPr/>
        </p:nvSpPr>
        <p:spPr>
          <a:xfrm>
            <a:off x="4709160" y="3657600"/>
            <a:ext cx="4206240" cy="114300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20" name="Text 18"/>
          <p:cNvSpPr/>
          <p:nvPr/>
        </p:nvSpPr>
        <p:spPr>
          <a:xfrm>
            <a:off x="4800600" y="3730752"/>
            <a:ext cx="502920" cy="457200"/>
          </a:xfrm>
          <a:prstGeom prst="rect">
            <a:avLst/>
          </a:prstGeom>
          <a:noFill/>
          <a:ln/>
        </p:spPr>
        <p:txBody>
          <a:bodyPr wrap="square" rtlCol="0" anchor="ctr"/>
          <a:lstStyle/>
          <a:p>
            <a:pPr marL="0" indent="0">
              <a:buNone/>
            </a:pPr>
            <a:r>
              <a:rPr lang="en-US" sz="2200" b="1" dirty="0">
                <a:solidFill>
                  <a:srgbClr val="E63946"/>
                </a:solidFill>
                <a:latin typeface="Calibri" pitchFamily="34" charset="0"/>
                <a:ea typeface="Calibri" pitchFamily="34" charset="-122"/>
                <a:cs typeface="Calibri" pitchFamily="34" charset="-120"/>
              </a:rPr>
              <a:t>04</a:t>
            </a:r>
            <a:endParaRPr lang="en-US" sz="2200" dirty="0"/>
          </a:p>
        </p:txBody>
      </p:sp>
      <p:sp>
        <p:nvSpPr>
          <p:cNvPr id="21" name="Text 19"/>
          <p:cNvSpPr/>
          <p:nvPr/>
        </p:nvSpPr>
        <p:spPr>
          <a:xfrm>
            <a:off x="5349240" y="3749040"/>
            <a:ext cx="3429000" cy="365760"/>
          </a:xfrm>
          <a:prstGeom prst="rect">
            <a:avLst/>
          </a:prstGeom>
          <a:noFill/>
          <a:ln/>
        </p:spPr>
        <p:txBody>
          <a:bodyPr wrap="square"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Acknowledge limitations explicitly</a:t>
            </a:r>
            <a:endParaRPr lang="en-US" sz="1100" dirty="0"/>
          </a:p>
        </p:txBody>
      </p:sp>
      <p:sp>
        <p:nvSpPr>
          <p:cNvPr id="22" name="Text 20"/>
          <p:cNvSpPr/>
          <p:nvPr/>
        </p:nvSpPr>
        <p:spPr>
          <a:xfrm>
            <a:off x="5349240" y="4133088"/>
            <a:ext cx="3429000" cy="594360"/>
          </a:xfrm>
          <a:prstGeom prst="rect">
            <a:avLst/>
          </a:prstGeom>
          <a:noFill/>
          <a:ln/>
        </p:spPr>
        <p:txBody>
          <a:bodyPr wrap="square" rtlCol="0" anchor="t"/>
          <a:lstStyle/>
          <a:p>
            <a:pPr marL="0" indent="0">
              <a:buNone/>
            </a:pPr>
            <a:r>
              <a:rPr lang="en-US" sz="1000" dirty="0">
                <a:solidFill>
                  <a:srgbClr val="0D1B2A"/>
                </a:solidFill>
                <a:latin typeface="Calibri" pitchFamily="34" charset="0"/>
                <a:ea typeface="Calibri" pitchFamily="34" charset="-122"/>
                <a:cs typeface="Calibri" pitchFamily="34" charset="-120"/>
              </a:rPr>
              <a:t>Different censoring distributions and follow-up durations reported as limitations in the discussion, per Saegusa et al. (2021).</a:t>
            </a:r>
            <a:endParaRPr lang="en-US" sz="1000" dirty="0"/>
          </a:p>
        </p:txBody>
      </p:sp>
      <p:sp>
        <p:nvSpPr>
          <p:cNvPr id="23" name="Text 21"/>
          <p:cNvSpPr/>
          <p:nvPr/>
        </p:nvSpPr>
        <p:spPr>
          <a:xfrm>
            <a:off x="274320" y="4800600"/>
            <a:ext cx="8595360" cy="274320"/>
          </a:xfrm>
          <a:prstGeom prst="rect">
            <a:avLst/>
          </a:prstGeom>
          <a:noFill/>
          <a:ln/>
        </p:spPr>
        <p:txBody>
          <a:bodyPr wrap="square" rtlCol="0" anchor="ctr"/>
          <a:lstStyle/>
          <a:p>
            <a:pPr marL="0" indent="0">
              <a:buNone/>
            </a:pPr>
            <a:r>
              <a:rPr lang="en-US" sz="950" i="1" dirty="0">
                <a:solidFill>
                  <a:srgbClr val="8D99AE"/>
                </a:solidFill>
                <a:latin typeface="Calibri" pitchFamily="34" charset="0"/>
                <a:ea typeface="Calibri" pitchFamily="34" charset="-122"/>
                <a:cs typeface="Calibri" pitchFamily="34" charset="-120"/>
              </a:rPr>
              <a:t>EDA confirms age is not a confounding factor (mean 64-66 across all cancers). Key difference in death rate (STAD 41% vs CRC 17-22%) reflects cancer biology, not demographics.</a:t>
            </a:r>
            <a:endParaRPr lang="en-US" sz="950" dirty="0"/>
          </a:p>
        </p:txBody>
      </p:sp>
      <p:sp>
        <p:nvSpPr>
          <p:cNvPr id="73"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Kaplan-Meier: Overall Survival</a:t>
            </a:r>
            <a:endParaRPr lang="en-US" sz="2600" dirty="0"/>
          </a:p>
        </p:txBody>
      </p:sp>
      <p:pic>
        <p:nvPicPr>
          <p:cNvPr id="3" name="Image 0"/>
          <p:cNvPicPr>
            <a:picLocks noChangeAspect="1"/>
          </p:cNvPicPr>
          <p:nvPr/>
        </p:nvPicPr>
        <p:blipFill>
          <a:blip r:embed="rId2"/>
          <a:stretch>
            <a:fillRect/>
          </a:stretch>
        </p:blipFill>
        <p:spPr>
          <a:xfrm>
            <a:off x="274320" y="822960"/>
            <a:ext cx="8595360" cy="2971800"/>
          </a:xfrm>
          <a:prstGeom prst="rect">
            <a:avLst/>
          </a:prstGeom>
        </p:spPr>
      </p:pic>
      <p:sp>
        <p:nvSpPr>
          <p:cNvPr id="4" name="Shape 1"/>
          <p:cNvSpPr/>
          <p:nvPr/>
        </p:nvSpPr>
        <p:spPr>
          <a:xfrm>
            <a:off x="274320" y="3931920"/>
            <a:ext cx="109728" cy="502920"/>
          </a:xfrm>
          <a:prstGeom prst="rect">
            <a:avLst/>
          </a:prstGeom>
          <a:solidFill>
            <a:srgbClr val="1E6091"/>
          </a:solidFill>
          <a:ln w="12700">
            <a:solidFill>
              <a:srgbClr val="1E6091"/>
            </a:solidFill>
            <a:prstDash val="solid"/>
          </a:ln>
        </p:spPr>
        <p:txBody>
          <a:bodyPr/>
          <a:lstStyle/>
          <a:p>
            <a:endParaRPr lang="en-GB"/>
          </a:p>
        </p:txBody>
      </p:sp>
      <p:sp>
        <p:nvSpPr>
          <p:cNvPr id="5" name="Text 2"/>
          <p:cNvSpPr/>
          <p:nvPr/>
        </p:nvSpPr>
        <p:spPr>
          <a:xfrm>
            <a:off x="45720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COAD: median survival 2,821 days</a:t>
            </a:r>
            <a:endParaRPr lang="en-US" sz="1000" dirty="0"/>
          </a:p>
        </p:txBody>
      </p:sp>
      <p:sp>
        <p:nvSpPr>
          <p:cNvPr id="6" name="Shape 3"/>
          <p:cNvSpPr/>
          <p:nvPr/>
        </p:nvSpPr>
        <p:spPr>
          <a:xfrm>
            <a:off x="3200400" y="3931920"/>
            <a:ext cx="109728" cy="502920"/>
          </a:xfrm>
          <a:prstGeom prst="rect">
            <a:avLst/>
          </a:prstGeom>
          <a:solidFill>
            <a:srgbClr val="2A9D8F"/>
          </a:solidFill>
          <a:ln w="12700">
            <a:solidFill>
              <a:srgbClr val="2A9D8F"/>
            </a:solidFill>
            <a:prstDash val="solid"/>
          </a:ln>
        </p:spPr>
        <p:txBody>
          <a:bodyPr/>
          <a:lstStyle/>
          <a:p>
            <a:endParaRPr lang="en-GB"/>
          </a:p>
        </p:txBody>
      </p:sp>
      <p:sp>
        <p:nvSpPr>
          <p:cNvPr id="7" name="Text 4"/>
          <p:cNvSpPr/>
          <p:nvPr/>
        </p:nvSpPr>
        <p:spPr>
          <a:xfrm>
            <a:off x="338328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READ: median survival 1,741 days</a:t>
            </a:r>
            <a:endParaRPr lang="en-US" sz="1000" dirty="0"/>
          </a:p>
        </p:txBody>
      </p:sp>
      <p:sp>
        <p:nvSpPr>
          <p:cNvPr id="8" name="Shape 5"/>
          <p:cNvSpPr/>
          <p:nvPr/>
        </p:nvSpPr>
        <p:spPr>
          <a:xfrm>
            <a:off x="6126480" y="3931920"/>
            <a:ext cx="109728" cy="502920"/>
          </a:xfrm>
          <a:prstGeom prst="rect">
            <a:avLst/>
          </a:prstGeom>
          <a:solidFill>
            <a:srgbClr val="E63946"/>
          </a:solidFill>
          <a:ln w="12700">
            <a:solidFill>
              <a:srgbClr val="E63946"/>
            </a:solidFill>
            <a:prstDash val="solid"/>
          </a:ln>
        </p:spPr>
        <p:txBody>
          <a:bodyPr/>
          <a:lstStyle/>
          <a:p>
            <a:endParaRPr lang="en-GB"/>
          </a:p>
        </p:txBody>
      </p:sp>
      <p:sp>
        <p:nvSpPr>
          <p:cNvPr id="9" name="Text 6"/>
          <p:cNvSpPr/>
          <p:nvPr/>
        </p:nvSpPr>
        <p:spPr>
          <a:xfrm>
            <a:off x="630936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STAD: median survival 881 days, far worse</a:t>
            </a:r>
            <a:endParaRPr lang="en-US" sz="1000" dirty="0"/>
          </a:p>
        </p:txBody>
      </p:sp>
      <p:sp>
        <p:nvSpPr>
          <p:cNvPr id="10" name="Text 7"/>
          <p:cNvSpPr/>
          <p:nvPr/>
        </p:nvSpPr>
        <p:spPr>
          <a:xfrm>
            <a:off x="274320" y="4572000"/>
            <a:ext cx="8595360" cy="457200"/>
          </a:xfrm>
          <a:prstGeom prst="rect">
            <a:avLst/>
          </a:prstGeom>
          <a:noFill/>
          <a:ln/>
        </p:spPr>
        <p:txBody>
          <a:bodyPr wrap="square" rtlCol="0" anchor="ctr"/>
          <a:lstStyle/>
          <a:p>
            <a:pPr marL="0" indent="0">
              <a:buNone/>
            </a:pPr>
            <a:r>
              <a:rPr lang="en-US" sz="1000" i="1" dirty="0">
                <a:solidFill>
                  <a:srgbClr val="8D99AE"/>
                </a:solidFill>
                <a:latin typeface="Calibri" pitchFamily="34" charset="0"/>
                <a:ea typeface="Calibri" pitchFamily="34" charset="-122"/>
                <a:cs typeface="Calibri" pitchFamily="34" charset="-120"/>
              </a:rPr>
              <a:t>Curves were fitted per cancer, then stratified by stage, sex and age with a log-rank test; stage is highly significant in all three (p &lt; 0.001). These censoring-aware medians exceed the naive EDA medians because the estimator accounts for censored patients.</a:t>
            </a:r>
            <a:endParaRPr lang="en-US" sz="1000" dirty="0"/>
          </a:p>
        </p:txBody>
      </p:sp>
      <p:sp>
        <p:nvSpPr>
          <p:cNvPr id="60"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Kaplan-Meier: Survival by Stage</a:t>
            </a:r>
            <a:endParaRPr lang="en-US" sz="2600" dirty="0"/>
          </a:p>
        </p:txBody>
      </p:sp>
      <p:pic>
        <p:nvPicPr>
          <p:cNvPr id="3" name="Image 0"/>
          <p:cNvPicPr>
            <a:picLocks noChangeAspect="1"/>
          </p:cNvPicPr>
          <p:nvPr/>
        </p:nvPicPr>
        <p:blipFill>
          <a:blip r:embed="rId2"/>
          <a:stretch>
            <a:fillRect/>
          </a:stretch>
        </p:blipFill>
        <p:spPr>
          <a:xfrm>
            <a:off x="274320" y="822960"/>
            <a:ext cx="8595360" cy="2971800"/>
          </a:xfrm>
          <a:prstGeom prst="rect">
            <a:avLst/>
          </a:prstGeom>
        </p:spPr>
      </p:pic>
      <p:sp>
        <p:nvSpPr>
          <p:cNvPr id="4" name="Shape 1"/>
          <p:cNvSpPr/>
          <p:nvPr/>
        </p:nvSpPr>
        <p:spPr>
          <a:xfrm>
            <a:off x="274320" y="3931920"/>
            <a:ext cx="109728" cy="502920"/>
          </a:xfrm>
          <a:prstGeom prst="rect">
            <a:avLst/>
          </a:prstGeom>
          <a:solidFill>
            <a:srgbClr val="1E6091"/>
          </a:solidFill>
          <a:ln w="12700">
            <a:solidFill>
              <a:srgbClr val="1E6091"/>
            </a:solidFill>
            <a:prstDash val="solid"/>
          </a:ln>
        </p:spPr>
        <p:txBody>
          <a:bodyPr/>
          <a:lstStyle/>
          <a:p>
            <a:endParaRPr lang="en-GB"/>
          </a:p>
        </p:txBody>
      </p:sp>
      <p:sp>
        <p:nvSpPr>
          <p:cNvPr id="5" name="Text 2"/>
          <p:cNvSpPr/>
          <p:nvPr/>
        </p:nvSpPr>
        <p:spPr>
          <a:xfrm>
            <a:off x="45720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COAD: clean stage separation (p = 1.3e-12)</a:t>
            </a:r>
            <a:endParaRPr lang="en-US" sz="1000" dirty="0"/>
          </a:p>
        </p:txBody>
      </p:sp>
      <p:sp>
        <p:nvSpPr>
          <p:cNvPr id="6" name="Shape 3"/>
          <p:cNvSpPr/>
          <p:nvPr/>
        </p:nvSpPr>
        <p:spPr>
          <a:xfrm>
            <a:off x="3200400" y="3931920"/>
            <a:ext cx="109728" cy="502920"/>
          </a:xfrm>
          <a:prstGeom prst="rect">
            <a:avLst/>
          </a:prstGeom>
          <a:solidFill>
            <a:srgbClr val="2A9D8F"/>
          </a:solidFill>
          <a:ln w="12700">
            <a:solidFill>
              <a:srgbClr val="2A9D8F"/>
            </a:solidFill>
            <a:prstDash val="solid"/>
          </a:ln>
        </p:spPr>
        <p:txBody>
          <a:bodyPr/>
          <a:lstStyle/>
          <a:p>
            <a:endParaRPr lang="en-GB"/>
          </a:p>
        </p:txBody>
      </p:sp>
      <p:sp>
        <p:nvSpPr>
          <p:cNvPr id="7" name="Text 4"/>
          <p:cNvSpPr/>
          <p:nvPr/>
        </p:nvSpPr>
        <p:spPr>
          <a:xfrm>
            <a:off x="338328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READ: separation (p = 7.6e-4)</a:t>
            </a:r>
            <a:endParaRPr lang="en-US" sz="1000" dirty="0"/>
          </a:p>
        </p:txBody>
      </p:sp>
      <p:sp>
        <p:nvSpPr>
          <p:cNvPr id="8" name="Shape 5"/>
          <p:cNvSpPr/>
          <p:nvPr/>
        </p:nvSpPr>
        <p:spPr>
          <a:xfrm>
            <a:off x="6126480" y="3931920"/>
            <a:ext cx="109728" cy="502920"/>
          </a:xfrm>
          <a:prstGeom prst="rect">
            <a:avLst/>
          </a:prstGeom>
          <a:solidFill>
            <a:srgbClr val="E63946"/>
          </a:solidFill>
          <a:ln w="12700">
            <a:solidFill>
              <a:srgbClr val="E63946"/>
            </a:solidFill>
            <a:prstDash val="solid"/>
          </a:ln>
        </p:spPr>
        <p:txBody>
          <a:bodyPr/>
          <a:lstStyle/>
          <a:p>
            <a:endParaRPr lang="en-GB"/>
          </a:p>
        </p:txBody>
      </p:sp>
      <p:sp>
        <p:nvSpPr>
          <p:cNvPr id="9" name="Text 6"/>
          <p:cNvSpPr/>
          <p:nvPr/>
        </p:nvSpPr>
        <p:spPr>
          <a:xfrm>
            <a:off x="6309360" y="3931920"/>
            <a:ext cx="260604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STAD: significant (p = 5.9e-6); tail unstable</a:t>
            </a:r>
            <a:endParaRPr lang="en-US" sz="1000" dirty="0"/>
          </a:p>
        </p:txBody>
      </p:sp>
      <p:sp>
        <p:nvSpPr>
          <p:cNvPr id="10" name="Text 7"/>
          <p:cNvSpPr/>
          <p:nvPr/>
        </p:nvSpPr>
        <p:spPr>
          <a:xfrm>
            <a:off x="274320" y="4572000"/>
            <a:ext cx="8595360" cy="365760"/>
          </a:xfrm>
          <a:prstGeom prst="rect">
            <a:avLst/>
          </a:prstGeom>
          <a:noFill/>
          <a:ln/>
        </p:spPr>
        <p:txBody>
          <a:bodyPr wrap="square" rtlCol="0" anchor="ctr"/>
          <a:lstStyle/>
          <a:p>
            <a:pPr marL="0" indent="0">
              <a:buNone/>
            </a:pPr>
            <a:r>
              <a:rPr lang="en-US" sz="1000" i="1" dirty="0">
                <a:solidFill>
                  <a:srgbClr val="8D99AE"/>
                </a:solidFill>
                <a:latin typeface="Calibri" pitchFamily="34" charset="0"/>
                <a:ea typeface="Calibri" pitchFamily="34" charset="-122"/>
                <a:cs typeface="Calibri" pitchFamily="34" charset="-120"/>
              </a:rPr>
              <a:t>Stage is the strongest and most consistent predictor of survival, highly significant in all three cancers. READ Stage I/II have few events; STAD ordering inverts in the long tail where few remain at risk.</a:t>
            </a:r>
            <a:endParaRPr lang="en-US" sz="1000" dirty="0"/>
          </a:p>
        </p:txBody>
      </p:sp>
      <p:sp>
        <p:nvSpPr>
          <p:cNvPr id="60"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Log-Rank Test Summary</a:t>
            </a:r>
            <a:endParaRPr lang="en-US" sz="2600" dirty="0"/>
          </a:p>
        </p:txBody>
      </p:sp>
      <p:pic>
        <p:nvPicPr>
          <p:cNvPr id="3" name="Image 0"/>
          <p:cNvPicPr>
            <a:picLocks noChangeAspect="1"/>
          </p:cNvPicPr>
          <p:nvPr/>
        </p:nvPicPr>
        <p:blipFill>
          <a:blip r:embed="rId2"/>
          <a:stretch>
            <a:fillRect/>
          </a:stretch>
        </p:blipFill>
        <p:spPr>
          <a:xfrm>
            <a:off x="457200" y="822960"/>
            <a:ext cx="8229600" cy="2926080"/>
          </a:xfrm>
          <a:prstGeom prst="rect">
            <a:avLst/>
          </a:prstGeom>
        </p:spPr>
      </p:pic>
      <p:sp>
        <p:nvSpPr>
          <p:cNvPr id="4" name="Text 1"/>
          <p:cNvSpPr/>
          <p:nvPr/>
        </p:nvSpPr>
        <p:spPr>
          <a:xfrm>
            <a:off x="457200" y="3840480"/>
            <a:ext cx="8229600" cy="320040"/>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Interpretation</a:t>
            </a:r>
            <a:endParaRPr lang="en-US" sz="1300" dirty="0"/>
          </a:p>
        </p:txBody>
      </p:sp>
      <p:sp>
        <p:nvSpPr>
          <p:cNvPr id="5" name="Text 2"/>
          <p:cNvSpPr/>
          <p:nvPr/>
        </p:nvSpPr>
        <p:spPr>
          <a:xfrm>
            <a:off x="457200" y="4160520"/>
            <a:ext cx="8229600" cy="7772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Stage is the dominant predictor, significant in every cancer. Age is significant in READ only; gender is not significant in any cohort (unadjusted). Stage, age and gender are the stratifiers tested here; the Cox model in Phase 4 additionally adjusts for T/N/M stage, prior malignancy, residual disease, treatment and demographics.</a:t>
            </a:r>
            <a:endParaRPr lang="en-US" sz="1100" dirty="0"/>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Cox HR">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Cox Regression: Hazard Ratios</a:t>
            </a:r>
          </a:p>
        </p:txBody>
      </p:sp>
      <p:sp>
        <p:nvSpPr>
          <p:cNvPr id="4" name="Accent"/>
          <p:cNvSpPr/>
          <p:nvPr/>
        </p:nvSpPr>
        <p:spPr>
          <a:xfrm>
            <a:off x="274320" y="4498848"/>
            <a:ext cx="109728" cy="384048"/>
          </a:xfrm>
          <a:prstGeom prst="rect">
            <a:avLst/>
          </a:prstGeom>
          <a:solidFill>
            <a:srgbClr val="1E6091"/>
          </a:solidFill>
        </p:spPr>
        <p:txBody>
          <a:bodyPr/>
          <a:lstStyle/>
          <a:p>
            <a:endParaRPr lang="en-GB"/>
          </a:p>
        </p:txBody>
      </p:sp>
      <p:sp>
        <p:nvSpPr>
          <p:cNvPr id="5" name="Caption"/>
          <p:cNvSpPr/>
          <p:nvPr/>
        </p:nvSpPr>
        <p:spPr>
          <a:xfrm>
            <a:off x="457200" y="4498848"/>
            <a:ext cx="7863840" cy="384048"/>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Stage IV carries roughly 3x the Stage I risk in every cancer, with residual disease the next signal. Penalised C-index 0.76 / 0.83 / 0.70.</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15</a:t>
            </a:r>
          </a:p>
        </p:txBody>
      </p:sp>
      <p:pic>
        <p:nvPicPr>
          <p:cNvPr id="7" name="Picture 6">
            <a:extLst>
              <a:ext uri="{FF2B5EF4-FFF2-40B4-BE49-F238E27FC236}">
                <a16:creationId xmlns:a16="http://schemas.microsoft.com/office/drawing/2014/main" id="{0BD61F30-511C-FB64-0E4B-BC28B6D956CD}"/>
              </a:ext>
            </a:extLst>
          </p:cNvPr>
          <p:cNvPicPr>
            <a:picLocks noChangeAspect="1"/>
          </p:cNvPicPr>
          <p:nvPr/>
        </p:nvPicPr>
        <p:blipFill>
          <a:blip r:embed="rId2"/>
          <a:stretch>
            <a:fillRect/>
          </a:stretch>
        </p:blipFill>
        <p:spPr>
          <a:xfrm>
            <a:off x="751718" y="731520"/>
            <a:ext cx="7072998" cy="324275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tage gradient">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Stage Gradient and Model Comparison</a:t>
            </a:r>
          </a:p>
        </p:txBody>
      </p:sp>
      <p:pic>
        <p:nvPicPr>
          <p:cNvPr id="3" name="Figure"/>
          <p:cNvPicPr>
            <a:picLocks noChangeAspect="1"/>
          </p:cNvPicPr>
          <p:nvPr/>
        </p:nvPicPr>
        <p:blipFill>
          <a:blip r:embed="rId2"/>
          <a:stretch>
            <a:fillRect/>
          </a:stretch>
        </p:blipFill>
        <p:spPr>
          <a:xfrm>
            <a:off x="457200" y="914400"/>
            <a:ext cx="3767328" cy="2286000"/>
          </a:xfrm>
          <a:prstGeom prst="rect">
            <a:avLst/>
          </a:prstGeom>
        </p:spPr>
      </p:pic>
      <p:sp>
        <p:nvSpPr>
          <p:cNvPr id="5" name="Caption"/>
          <p:cNvSpPr/>
          <p:nvPr/>
        </p:nvSpPr>
        <p:spPr>
          <a:xfrm>
            <a:off x="457200" y="3291840"/>
            <a:ext cx="3767328" cy="13716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Adjusted risk climbs steeply to Stage IV in all three cancers, the same direction across cohorts. This shared gradient is the defensible cross-cohort comparison.</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16</a:t>
            </a:r>
          </a:p>
        </p:txBody>
      </p:sp>
      <p:pic>
        <p:nvPicPr>
          <p:cNvPr id="6" name="Figure2"/>
          <p:cNvPicPr>
            <a:picLocks noChangeAspect="1"/>
          </p:cNvPicPr>
          <p:nvPr/>
        </p:nvPicPr>
        <p:blipFill>
          <a:blip r:embed="rId3"/>
          <a:stretch>
            <a:fillRect/>
          </a:stretch>
        </p:blipFill>
        <p:spPr>
          <a:xfrm>
            <a:off x="4498848" y="914400"/>
            <a:ext cx="4187952" cy="2286000"/>
          </a:xfrm>
          <a:prstGeom prst="rect">
            <a:avLst/>
          </a:prstGeom>
        </p:spPr>
      </p:pic>
      <p:sp>
        <p:nvSpPr>
          <p:cNvPr id="7" name="Caption"/>
          <p:cNvSpPr/>
          <p:nvPr/>
        </p:nvSpPr>
        <p:spPr>
          <a:xfrm>
            <a:off x="4498848" y="3291840"/>
            <a:ext cx="4187952" cy="13716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Under matched 5-fold cross-validation the two models discriminate comparably, so there is no substantial gain over Cox. Cox is kept as the primary, interpretable 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HAP global">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Feature Importance (SHAP)</a:t>
            </a:r>
          </a:p>
        </p:txBody>
      </p:sp>
      <p:pic>
        <p:nvPicPr>
          <p:cNvPr id="3" name="Figure"/>
          <p:cNvPicPr>
            <a:picLocks noChangeAspect="1"/>
          </p:cNvPicPr>
          <p:nvPr/>
        </p:nvPicPr>
        <p:blipFill>
          <a:blip r:embed="rId2"/>
          <a:stretch>
            <a:fillRect/>
          </a:stretch>
        </p:blipFill>
        <p:spPr>
          <a:xfrm>
            <a:off x="759126" y="853715"/>
            <a:ext cx="7625748" cy="278257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SHAP on the forest confirms staging drives risk across all three cancers, with age also prominent and the single strongest factor in rectum. Residual disease matters in colon and stomach, and in stomach treatment received ranks among the top predictors. Race, ethnicity and gender are negligible throughout.</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HAP beeswarm">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How Features Drive Predicted Risk (SHAP)</a:t>
            </a:r>
          </a:p>
        </p:txBody>
      </p:sp>
      <p:pic>
        <p:nvPicPr>
          <p:cNvPr id="3" name="Figure"/>
          <p:cNvPicPr>
            <a:picLocks noChangeAspect="1"/>
          </p:cNvPicPr>
          <p:nvPr/>
        </p:nvPicPr>
        <p:blipFill>
          <a:blip r:embed="rId2"/>
          <a:stretch>
            <a:fillRect/>
          </a:stretch>
        </p:blipFill>
        <p:spPr>
          <a:xfrm>
            <a:off x="2342402" y="820000"/>
            <a:ext cx="4459196" cy="285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Stomach shown. Each dot is a patient, coloured by feature value. Later stage, residual disease and older age push predicted risk higher (positive SHAP), while receiving treatment lowers it, consistent with the Cox model though treatment is likely confounded by indication. Demographics have little effect. Colon and rectum are in the supplementary slides.</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Adjusted Comparison: Colon vs Stomach</a:t>
            </a:r>
            <a:endParaRPr lang="en-US" sz="2800" dirty="0"/>
          </a:p>
        </p:txBody>
      </p:sp>
      <p:sp>
        <p:nvSpPr>
          <p:cNvPr id="3" name="Shape 1"/>
          <p:cNvSpPr/>
          <p:nvPr/>
        </p:nvSpPr>
        <p:spPr>
          <a:xfrm>
            <a:off x="36576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4" name="Shape 2"/>
          <p:cNvSpPr/>
          <p:nvPr/>
        </p:nvSpPr>
        <p:spPr>
          <a:xfrm>
            <a:off x="365760" y="1097280"/>
            <a:ext cx="2651760" cy="73152"/>
          </a:xfrm>
          <a:prstGeom prst="rect">
            <a:avLst/>
          </a:prstGeom>
          <a:solidFill>
            <a:srgbClr val="1E6091"/>
          </a:solidFill>
          <a:ln w="12700">
            <a:solidFill>
              <a:srgbClr val="1E6091"/>
            </a:solidFill>
            <a:prstDash val="solid"/>
          </a:ln>
        </p:spPr>
        <p:txBody>
          <a:bodyPr/>
          <a:lstStyle/>
          <a:p>
            <a:endParaRPr lang="en-GB"/>
          </a:p>
        </p:txBody>
      </p:sp>
      <p:sp>
        <p:nvSpPr>
          <p:cNvPr id="5" name="Text 3"/>
          <p:cNvSpPr/>
          <p:nvPr/>
        </p:nvSpPr>
        <p:spPr>
          <a:xfrm>
            <a:off x="502920" y="1234440"/>
            <a:ext cx="2377440" cy="365760"/>
          </a:xfrm>
          <a:prstGeom prst="rect">
            <a:avLst/>
          </a:prstGeom>
          <a:noFill/>
          <a:ln/>
        </p:spPr>
        <p:txBody>
          <a:bodyPr wrap="square" rtlCol="0" anchor="ctr"/>
          <a:lstStyle/>
          <a:p>
            <a:pPr marL="0" indent="0">
              <a:buNone/>
            </a:pPr>
            <a:r>
              <a:rPr lang="en-US" sz="1400" b="1" dirty="0">
                <a:solidFill>
                  <a:srgbClr val="1E6091"/>
                </a:solidFill>
                <a:latin typeface="Calibri" pitchFamily="34" charset="0"/>
                <a:ea typeface="Calibri" pitchFamily="34" charset="-122"/>
                <a:cs typeface="Calibri" pitchFamily="34" charset="-120"/>
              </a:rPr>
              <a:t>The Question</a:t>
            </a:r>
            <a:endParaRPr lang="en-US" sz="1400" dirty="0"/>
          </a:p>
        </p:txBody>
      </p:sp>
      <p:sp>
        <p:nvSpPr>
          <p:cNvPr id="6" name="Text 4"/>
          <p:cNvSpPr/>
          <p:nvPr/>
        </p:nvSpPr>
        <p:spPr>
          <a:xfrm>
            <a:off x="50292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Does colon have worse survival than stomach once we adjust for age, stage and sex? Unadjusted, stomach looks far worse, but it is also caught at a later stage, so a fair test has to hold stage constant.</a:t>
            </a:r>
            <a:endParaRPr lang="en-US" sz="1200" dirty="0"/>
          </a:p>
        </p:txBody>
      </p:sp>
      <p:sp>
        <p:nvSpPr>
          <p:cNvPr id="7" name="Shape 5"/>
          <p:cNvSpPr/>
          <p:nvPr/>
        </p:nvSpPr>
        <p:spPr>
          <a:xfrm>
            <a:off x="320040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8" name="Shape 6"/>
          <p:cNvSpPr/>
          <p:nvPr/>
        </p:nvSpPr>
        <p:spPr>
          <a:xfrm>
            <a:off x="3200400" y="1097280"/>
            <a:ext cx="2651760" cy="73152"/>
          </a:xfrm>
          <a:prstGeom prst="rect">
            <a:avLst/>
          </a:prstGeom>
          <a:solidFill>
            <a:srgbClr val="E63946"/>
          </a:solidFill>
          <a:ln w="12700">
            <a:solidFill>
              <a:srgbClr val="E63946"/>
            </a:solidFill>
            <a:prstDash val="solid"/>
          </a:ln>
        </p:spPr>
        <p:txBody>
          <a:bodyPr/>
          <a:lstStyle/>
          <a:p>
            <a:endParaRPr lang="en-GB"/>
          </a:p>
        </p:txBody>
      </p:sp>
      <p:sp>
        <p:nvSpPr>
          <p:cNvPr id="9" name="Text 7"/>
          <p:cNvSpPr/>
          <p:nvPr/>
        </p:nvSpPr>
        <p:spPr>
          <a:xfrm>
            <a:off x="3337560" y="1234440"/>
            <a:ext cx="2377440" cy="36576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The Answer</a:t>
            </a:r>
            <a:endParaRPr lang="en-US" sz="1400" dirty="0"/>
          </a:p>
        </p:txBody>
      </p:sp>
      <p:sp>
        <p:nvSpPr>
          <p:cNvPr id="10" name="Text 8"/>
          <p:cNvSpPr/>
          <p:nvPr/>
        </p:nvSpPr>
        <p:spPr>
          <a:xfrm>
            <a:off x="333756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No. Pooling both cancers in one Cox model, colon carries 0.36 times the risk of stomach (colorectal 0.33 times), p &lt; 0.0001. Stomach is about three times worse.</a:t>
            </a:r>
            <a:endParaRPr lang="en-US" sz="1200" dirty="0"/>
          </a:p>
        </p:txBody>
      </p:sp>
      <p:sp>
        <p:nvSpPr>
          <p:cNvPr id="11" name="Shape 9"/>
          <p:cNvSpPr/>
          <p:nvPr/>
        </p:nvSpPr>
        <p:spPr>
          <a:xfrm>
            <a:off x="603504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2" name="Shape 10"/>
          <p:cNvSpPr/>
          <p:nvPr/>
        </p:nvSpPr>
        <p:spPr>
          <a:xfrm>
            <a:off x="6035040" y="1097280"/>
            <a:ext cx="2651760" cy="73152"/>
          </a:xfrm>
          <a:prstGeom prst="rect">
            <a:avLst/>
          </a:prstGeom>
          <a:solidFill>
            <a:srgbClr val="2A9D8F"/>
          </a:solidFill>
          <a:ln w="12700">
            <a:solidFill>
              <a:srgbClr val="2A9D8F"/>
            </a:solidFill>
            <a:prstDash val="solid"/>
          </a:ln>
        </p:spPr>
        <p:txBody>
          <a:bodyPr/>
          <a:lstStyle/>
          <a:p>
            <a:endParaRPr lang="en-GB"/>
          </a:p>
        </p:txBody>
      </p:sp>
      <p:sp>
        <p:nvSpPr>
          <p:cNvPr id="13" name="Text 11"/>
          <p:cNvSpPr/>
          <p:nvPr/>
        </p:nvSpPr>
        <p:spPr>
          <a:xfrm>
            <a:off x="6172200" y="1234440"/>
            <a:ext cx="2377440" cy="365760"/>
          </a:xfrm>
          <a:prstGeom prst="rect">
            <a:avLst/>
          </a:prstGeom>
          <a:noFill/>
          <a:ln/>
        </p:spPr>
        <p:txBody>
          <a:bodyPr wrap="square" rtlCol="0" anchor="ctr"/>
          <a:lstStyle/>
          <a:p>
            <a:pPr marL="0" indent="0">
              <a:buNone/>
            </a:pPr>
            <a:r>
              <a:rPr lang="en-US" sz="1400" b="1" dirty="0">
                <a:solidFill>
                  <a:srgbClr val="2A9D8F"/>
                </a:solidFill>
                <a:latin typeface="Calibri" pitchFamily="34" charset="0"/>
                <a:ea typeface="Calibri" pitchFamily="34" charset="-122"/>
                <a:cs typeface="Calibri" pitchFamily="34" charset="-120"/>
              </a:rPr>
              <a:t>Why It Matters</a:t>
            </a:r>
            <a:endParaRPr lang="en-US" sz="1400" dirty="0"/>
          </a:p>
        </p:txBody>
      </p:sp>
      <p:sp>
        <p:nvSpPr>
          <p:cNvPr id="14" name="Text 12"/>
          <p:cNvSpPr/>
          <p:nvPr/>
        </p:nvSpPr>
        <p:spPr>
          <a:xfrm>
            <a:off x="617220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Because stage is already held constant, stomach is worse stage-for-stage. Its poor prognosis is intrinsic to the disease, not just a result of being diagnosed later.</a:t>
            </a:r>
            <a:endParaRPr lang="en-US" sz="1200" dirty="0"/>
          </a:p>
        </p:txBody>
      </p:sp>
      <p:sp>
        <p:nvSpPr>
          <p:cNvPr id="15" name="Text 13"/>
          <p:cNvSpPr/>
          <p:nvPr/>
        </p:nvSpPr>
        <p:spPr>
          <a:xfrm>
            <a:off x="457200" y="4754880"/>
            <a:ext cx="8229600" cy="274320"/>
          </a:xfrm>
          <a:prstGeom prst="rect">
            <a:avLst/>
          </a:prstGeom>
          <a:noFill/>
          <a:ln/>
        </p:spPr>
        <p:txBody>
          <a:bodyPr wrap="square" rtlCol="0" anchor="ctr"/>
          <a:lstStyle/>
          <a:p>
            <a:pPr marL="0" indent="0">
              <a:buNone/>
            </a:pPr>
            <a:endParaRPr lang="en-US" sz="1000" dirty="0"/>
          </a:p>
        </p:txBody>
      </p:sp>
      <p:sp>
        <p:nvSpPr>
          <p:cNvPr id="6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tage gradient">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Adjusted Comparison: The Full Model</a:t>
            </a:r>
          </a:p>
        </p:txBody>
      </p:sp>
      <p:pic>
        <p:nvPicPr>
          <p:cNvPr id="3" name="Figure"/>
          <p:cNvPicPr>
            <a:picLocks noChangeAspect="1"/>
          </p:cNvPicPr>
          <p:nvPr/>
        </p:nvPicPr>
        <p:blipFill>
          <a:blip r:embed="rId2"/>
          <a:stretch>
            <a:fillRect/>
          </a:stretch>
        </p:blipFill>
        <p:spPr>
          <a:xfrm>
            <a:off x="472000" y="1138523"/>
            <a:ext cx="8200000" cy="2382953"/>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Pooling the cohorts and adjusting for age, stage and sex. Colon carries a hazard ratio of 0.36 against stomach (colorectal 0.33), so stomach is about three times worse stage-for-stage: the excess is intrinsic, not a consequence of later diagnosis. The stage gradient is steep (Stage IV HR 7.82) and age is significant; sex is not.</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ox HR">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Transfer Learning: Colorectal to Stomach</a:t>
            </a:r>
          </a:p>
        </p:txBody>
      </p:sp>
      <p:pic>
        <p:nvPicPr>
          <p:cNvPr id="3" name="Figure"/>
          <p:cNvPicPr>
            <a:picLocks noChangeAspect="1"/>
          </p:cNvPicPr>
          <p:nvPr/>
        </p:nvPicPr>
        <p:blipFill>
          <a:blip r:embed="rId2"/>
          <a:stretch>
            <a:fillRect/>
          </a:stretch>
        </p:blipFill>
        <p:spPr>
          <a:xfrm>
            <a:off x="1234440" y="685800"/>
            <a:ext cx="6675120" cy="3182112"/>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A random survival forest trained only on colorectal patients is applied to stomach with no refitting. Because the same clinical predictors drive both cancers, colorectal knowledge transfers and the model ranks stomach patients too.</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tage gradient">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Colorectal Risk Transfers to Stomach</a:t>
            </a:r>
          </a:p>
        </p:txBody>
      </p:sp>
      <p:pic>
        <p:nvPicPr>
          <p:cNvPr id="3" name="Figure"/>
          <p:cNvPicPr>
            <a:picLocks noChangeAspect="1"/>
          </p:cNvPicPr>
          <p:nvPr/>
        </p:nvPicPr>
        <p:blipFill>
          <a:blip r:embed="rId2"/>
          <a:stretch>
            <a:fillRect/>
          </a:stretch>
        </p:blipFill>
        <p:spPr>
          <a:xfrm>
            <a:off x="2355300" y="820000"/>
            <a:ext cx="4433400" cy="285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A random survival forest trained only on colorectal patients, never shown a single stomach case, ranks stomach patients almost as well as a stomach-trained model (C-index 0.646 against 0.650). Its predicted risk splits stomach survival cleanly (log-rank p = 1.5e-7): the high-risk third does far worse. Discrimination transfers; calibration is weaker (Brier 0.192), because the two cancers sit at different absolute risk levels.</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Cox HR">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Transfer Helps Most When Stomach Data Is Scarce</a:t>
            </a:r>
          </a:p>
        </p:txBody>
      </p:sp>
      <p:pic>
        <p:nvPicPr>
          <p:cNvPr id="3" name="Figure"/>
          <p:cNvPicPr>
            <a:picLocks noChangeAspect="1"/>
          </p:cNvPicPr>
          <p:nvPr/>
        </p:nvPicPr>
        <p:blipFill>
          <a:blip r:embed="rId2"/>
          <a:stretch>
            <a:fillRect/>
          </a:stretch>
        </p:blipFill>
        <p:spPr>
          <a:xfrm>
            <a:off x="2130552" y="685800"/>
            <a:ext cx="4873752" cy="310896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A colorectal-trained forest already scores 0.68 on stomach with almost no stomach training data, where a stomach-only model sits at chance. The two converge once stomach data is plentiful, so colorectal transfer matters most when the target cohort is small.</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tage gradient">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ROC-AUC of the Transferred Model</a:t>
            </a:r>
          </a:p>
        </p:txBody>
      </p:sp>
      <p:pic>
        <p:nvPicPr>
          <p:cNvPr id="3" name="Figure"/>
          <p:cNvPicPr>
            <a:picLocks noChangeAspect="1"/>
          </p:cNvPicPr>
          <p:nvPr/>
        </p:nvPicPr>
        <p:blipFill>
          <a:blip r:embed="rId2"/>
          <a:stretch>
            <a:fillRect/>
          </a:stretch>
        </p:blipFill>
        <p:spPr>
          <a:xfrm>
            <a:off x="1206000" y="800000"/>
            <a:ext cx="6732000"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Time-dependent ROC, inverse-probability-of-censoring weighted: the survival equivalent of a classification ROC, since a plain ROC is invalid under censoring. Left: the colorectal-trained forest on stomach at one, two and three years (AUC 0.658, 0.674, 0.678), consistent with the mean time-dependent AUC of 0.671. Right: at two years a Cox transfer (0.661) and a stomach-trained forest (0.658) land on the same curve.</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tage gradient">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Transfer Reaches the Ceiling in Both Directions</a:t>
            </a:r>
          </a:p>
        </p:txBody>
      </p:sp>
      <p:pic>
        <p:nvPicPr>
          <p:cNvPr id="3" name="Figure"/>
          <p:cNvPicPr>
            <a:picLocks noChangeAspect="1"/>
          </p:cNvPicPr>
          <p:nvPr/>
        </p:nvPicPr>
        <p:blipFill>
          <a:blip r:embed="rId2"/>
          <a:stretch>
            <a:fillRect/>
          </a:stretch>
        </p:blipFill>
        <p:spPr>
          <a:xfrm>
            <a:off x="1273096" y="800000"/>
            <a:ext cx="6597807" cy="3060000"/>
          </a:xfrm>
          <a:prstGeom prst="rect">
            <a:avLst/>
          </a:prstGeom>
        </p:spPr>
      </p:pic>
      <p:sp>
        <p:nvSpPr>
          <p:cNvPr id="4" name="Accent"/>
          <p:cNvSpPr/>
          <p:nvPr/>
        </p:nvSpPr>
        <p:spPr>
          <a:xfrm>
            <a:off x="274320" y="3910000"/>
            <a:ext cx="109728" cy="470000"/>
          </a:xfrm>
          <a:prstGeom prst="rect">
            <a:avLst/>
          </a:prstGeom>
          <a:solidFill>
            <a:srgbClr val="1E6091"/>
          </a:solidFill>
        </p:spPr>
        <p:txBody>
          <a:bodyPr/>
          <a:lstStyle/>
          <a:p>
            <a:endParaRPr lang="en-GB"/>
          </a:p>
        </p:txBody>
      </p:sp>
      <p:sp>
        <p:nvSpPr>
          <p:cNvPr id="5" name="Caption"/>
          <p:cNvSpPr/>
          <p:nvPr/>
        </p:nvSpPr>
        <p:spPr>
          <a:xfrm>
            <a:off x="470000" y="3910000"/>
            <a:ext cx="8400000" cy="9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Each transfer is judged against its own target's within-cohort ceiling, because the C-index is not comparable between cohorts. On stomach, the colorectal-trained forest scores 0.646 against a 0.648 ceiling; on colorectal, a stomach-trained forest scores 0.763 against a 0.760 ceiling. Both reach 100%: a model trained on one gastrointestinal cancer ranks patients in the other as well as a model trained on that cancer itself.</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tage gradient">
    <p:bg>
      <p:bgPr>
        <a:solidFill>
          <a:srgbClr val="F1F3F4"/>
        </a:solidFill>
        <a:effectLst/>
      </p:bgPr>
    </p:bg>
    <p:spTree>
      <p:nvGrpSpPr>
        <p:cNvPr id="1" name=""/>
        <p:cNvGrpSpPr/>
        <p:nvPr/>
      </p:nvGrpSpPr>
      <p:grpSpPr>
        <a:xfrm>
          <a:off x="0" y="0"/>
          <a:ext cx="0" cy="0"/>
          <a:chOff x="0" y="0"/>
          <a:chExt cx="0" cy="0"/>
        </a:xfrm>
      </p:grpSpPr>
      <p:sp>
        <p:nvSpPr>
          <p:cNvPr id="2" name="Title"/>
          <p:cNvSpPr/>
          <p:nvPr/>
        </p:nvSpPr>
        <p:spPr>
          <a:xfrm>
            <a:off x="457200" y="228600"/>
            <a:ext cx="8229600" cy="502920"/>
          </a:xfrm>
          <a:prstGeom prst="rect">
            <a:avLst/>
          </a:prstGeom>
          <a:noFill/>
          <a:ln/>
        </p:spPr>
        <p:txBody>
          <a:bodyPr wrap="square" rtlCol="0" anchor="ctr"/>
          <a:lstStyle/>
          <a:p>
            <a:pPr marL="0" indent="0" algn="l">
              <a:buNone/>
            </a:pPr>
            <a:r>
              <a:rPr lang="en-US" sz="2600" b="1" dirty="0">
                <a:solidFill>
                  <a:srgbClr val="0D1B2A"/>
                </a:solidFill>
                <a:latin typeface="Calibri" pitchFamily="34" charset="0"/>
                <a:ea typeface="Calibri" pitchFamily="34" charset="-122"/>
                <a:cs typeface="Calibri" pitchFamily="34" charset="-120"/>
              </a:rPr>
              <a:t>The Same Predictors Drive Both Cancers</a:t>
            </a:r>
          </a:p>
        </p:txBody>
      </p:sp>
      <p:pic>
        <p:nvPicPr>
          <p:cNvPr id="3" name="Figure"/>
          <p:cNvPicPr>
            <a:picLocks noChangeAspect="1"/>
          </p:cNvPicPr>
          <p:nvPr/>
        </p:nvPicPr>
        <p:blipFill>
          <a:blip r:embed="rId2"/>
          <a:stretch>
            <a:fillRect/>
          </a:stretch>
        </p:blipFill>
        <p:spPr>
          <a:xfrm>
            <a:off x="2223600" y="820000"/>
            <a:ext cx="4696800" cy="2850000"/>
          </a:xfrm>
          <a:prstGeom prst="rect">
            <a:avLst/>
          </a:prstGeom>
        </p:spPr>
      </p:pic>
      <p:sp>
        <p:nvSpPr>
          <p:cNvPr id="4" name="Accent"/>
          <p:cNvSpPr/>
          <p:nvPr/>
        </p:nvSpPr>
        <p:spPr>
          <a:xfrm>
            <a:off x="274320" y="3830000"/>
            <a:ext cx="109728" cy="470000"/>
          </a:xfrm>
          <a:prstGeom prst="rect">
            <a:avLst/>
          </a:prstGeom>
          <a:solidFill>
            <a:srgbClr val="1E6091"/>
          </a:solidFill>
        </p:spPr>
        <p:txBody>
          <a:bodyPr/>
          <a:lstStyle/>
          <a:p>
            <a:endParaRPr lang="en-GB"/>
          </a:p>
        </p:txBody>
      </p:sp>
      <p:sp>
        <p:nvSpPr>
          <p:cNvPr id="5" name="Caption"/>
          <p:cNvSpPr/>
          <p:nvPr/>
        </p:nvSpPr>
        <p:spPr>
          <a:xfrm>
            <a:off x="470000" y="3830000"/>
            <a:ext cx="7850000" cy="1250000"/>
          </a:xfrm>
          <a:prstGeom prst="rect">
            <a:avLst/>
          </a:prstGeom>
          <a:noFill/>
          <a:ln/>
        </p:spPr>
        <p:txBody>
          <a:bodyPr wrap="square" rtlCol="0" anchor="t"/>
          <a:lstStyle/>
          <a:p>
            <a:pPr marL="0" indent="0" algn="l">
              <a:buNone/>
            </a:pPr>
            <a:r>
              <a:rPr lang="en-US" sz="1100" i="1" dirty="0">
                <a:solidFill>
                  <a:srgbClr val="5A6570"/>
                </a:solidFill>
                <a:latin typeface="Calibri" pitchFamily="34" charset="0"/>
                <a:ea typeface="Calibri" pitchFamily="34" charset="-122"/>
                <a:cs typeface="Calibri" pitchFamily="34" charset="-120"/>
              </a:rPr>
              <a:t>Testing each predictor for a different effect in colorectal versus stomach, none differs significantly. Age, stage and residual disease raise risk the same way in both, and sex is null in both. Because the predictors are invariant across the cancers, a model learned on colorectal generalises to stomach, which is exactly why the transfer works. Prior GI studies report the same shared prognostic structure across related cohorts, so this doubles as external validation (Saegusa et al., 2021; Zhou et al., 2023).</a:t>
            </a:r>
          </a:p>
        </p:txBody>
      </p:sp>
      <p:sp>
        <p:nvSpPr>
          <p:cNvPr id="5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
    <p:bg>
      <p:bgPr>
        <a:solidFill>
          <a:srgbClr val="F1F3F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Conclusions</a:t>
            </a:r>
            <a:endParaRPr lang="en-US" sz="2800" dirty="0"/>
          </a:p>
        </p:txBody>
      </p:sp>
      <p:sp>
        <p:nvSpPr>
          <p:cNvPr id="3" name="Shape 1"/>
          <p:cNvSpPr/>
          <p:nvPr/>
        </p:nvSpPr>
        <p:spPr>
          <a:xfrm>
            <a:off x="36576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4" name="Shape 2"/>
          <p:cNvSpPr/>
          <p:nvPr/>
        </p:nvSpPr>
        <p:spPr>
          <a:xfrm>
            <a:off x="365760" y="1097280"/>
            <a:ext cx="2651760" cy="73152"/>
          </a:xfrm>
          <a:prstGeom prst="rect">
            <a:avLst/>
          </a:prstGeom>
          <a:solidFill>
            <a:srgbClr val="1E6091"/>
          </a:solidFill>
          <a:ln w="12700">
            <a:solidFill>
              <a:srgbClr val="1E6091"/>
            </a:solidFill>
            <a:prstDash val="solid"/>
          </a:ln>
        </p:spPr>
        <p:txBody>
          <a:bodyPr/>
          <a:lstStyle/>
          <a:p>
            <a:endParaRPr lang="en-GB"/>
          </a:p>
        </p:txBody>
      </p:sp>
      <p:sp>
        <p:nvSpPr>
          <p:cNvPr id="5" name="Text 3"/>
          <p:cNvSpPr/>
          <p:nvPr/>
        </p:nvSpPr>
        <p:spPr>
          <a:xfrm>
            <a:off x="502920" y="1234440"/>
            <a:ext cx="2377440" cy="365760"/>
          </a:xfrm>
          <a:prstGeom prst="rect">
            <a:avLst/>
          </a:prstGeom>
          <a:noFill/>
          <a:ln/>
        </p:spPr>
        <p:txBody>
          <a:bodyPr wrap="square" rtlCol="0" anchor="ctr"/>
          <a:lstStyle/>
          <a:p>
            <a:pPr marL="0" indent="0">
              <a:buNone/>
            </a:pPr>
            <a:r>
              <a:rPr lang="en-US" sz="1400" b="1" dirty="0">
                <a:solidFill>
                  <a:srgbClr val="1E6091"/>
                </a:solidFill>
                <a:latin typeface="Calibri" pitchFamily="34" charset="0"/>
                <a:ea typeface="Calibri" pitchFamily="34" charset="-122"/>
                <a:cs typeface="Calibri" pitchFamily="34" charset="-120"/>
              </a:rPr>
              <a:t>What predicts survival</a:t>
            </a:r>
            <a:endParaRPr lang="en-US" sz="1400" dirty="0"/>
          </a:p>
        </p:txBody>
      </p:sp>
      <p:sp>
        <p:nvSpPr>
          <p:cNvPr id="6" name="Text 4"/>
          <p:cNvSpPr/>
          <p:nvPr/>
        </p:nvSpPr>
        <p:spPr>
          <a:xfrm>
            <a:off x="50292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Stage dominates in all three cancers, residual disease comes second, and demographics carry no signal once adjusted. A simple Cox model is as accurate out of sample as the random survival forest.</a:t>
            </a:r>
            <a:endParaRPr lang="en-US" sz="1200" dirty="0"/>
          </a:p>
        </p:txBody>
      </p:sp>
      <p:sp>
        <p:nvSpPr>
          <p:cNvPr id="7" name="Shape 5"/>
          <p:cNvSpPr/>
          <p:nvPr/>
        </p:nvSpPr>
        <p:spPr>
          <a:xfrm>
            <a:off x="320040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8" name="Shape 6"/>
          <p:cNvSpPr/>
          <p:nvPr/>
        </p:nvSpPr>
        <p:spPr>
          <a:xfrm>
            <a:off x="3200400" y="1097280"/>
            <a:ext cx="2651760" cy="73152"/>
          </a:xfrm>
          <a:prstGeom prst="rect">
            <a:avLst/>
          </a:prstGeom>
          <a:solidFill>
            <a:srgbClr val="E63946"/>
          </a:solidFill>
          <a:ln w="12700">
            <a:solidFill>
              <a:srgbClr val="E63946"/>
            </a:solidFill>
            <a:prstDash val="solid"/>
          </a:ln>
        </p:spPr>
        <p:txBody>
          <a:bodyPr/>
          <a:lstStyle/>
          <a:p>
            <a:endParaRPr lang="en-GB"/>
          </a:p>
        </p:txBody>
      </p:sp>
      <p:sp>
        <p:nvSpPr>
          <p:cNvPr id="9" name="Text 7"/>
          <p:cNvSpPr/>
          <p:nvPr/>
        </p:nvSpPr>
        <p:spPr>
          <a:xfrm>
            <a:off x="3337560" y="1234440"/>
            <a:ext cx="2377440" cy="36576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How the cancers relate</a:t>
            </a:r>
            <a:endParaRPr lang="en-US" sz="1400" dirty="0"/>
          </a:p>
        </p:txBody>
      </p:sp>
      <p:sp>
        <p:nvSpPr>
          <p:cNvPr id="10" name="Text 8"/>
          <p:cNvSpPr/>
          <p:nvPr/>
        </p:nvSpPr>
        <p:spPr>
          <a:xfrm>
            <a:off x="333756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The same predictors behave the same way across colorectal and stomach, so a colorectal-trained model transfers to stomach and picks out its high-risk patients. This cross-cancer transfer benefit is consistent with Sabbatini et al. (2026).</a:t>
            </a:r>
            <a:endParaRPr lang="en-US" sz="1200" dirty="0"/>
          </a:p>
        </p:txBody>
      </p:sp>
      <p:sp>
        <p:nvSpPr>
          <p:cNvPr id="11" name="Shape 9"/>
          <p:cNvSpPr/>
          <p:nvPr/>
        </p:nvSpPr>
        <p:spPr>
          <a:xfrm>
            <a:off x="6035040" y="1097280"/>
            <a:ext cx="2651760" cy="3291840"/>
          </a:xfrm>
          <a:prstGeom prst="rect">
            <a:avLst/>
          </a:prstGeom>
          <a:solidFill>
            <a:srgbClr val="FFFFFF"/>
          </a:solidFill>
          <a:ln w="12700">
            <a:solidFill>
              <a:srgbClr val="E9ECEF"/>
            </a:solidFill>
            <a:prstDash val="solid"/>
          </a:ln>
          <a:effectLst>
            <a:outerShdw blurRad="101600" dist="38100" dir="8100000" algn="bl" rotWithShape="0">
              <a:srgbClr val="000000">
                <a:alpha val="12000"/>
              </a:srgbClr>
            </a:outerShdw>
          </a:effectLst>
        </p:spPr>
        <p:txBody>
          <a:bodyPr/>
          <a:lstStyle/>
          <a:p>
            <a:endParaRPr lang="en-GB"/>
          </a:p>
        </p:txBody>
      </p:sp>
      <p:sp>
        <p:nvSpPr>
          <p:cNvPr id="12" name="Shape 10"/>
          <p:cNvSpPr/>
          <p:nvPr/>
        </p:nvSpPr>
        <p:spPr>
          <a:xfrm>
            <a:off x="6035040" y="1097280"/>
            <a:ext cx="2651760" cy="73152"/>
          </a:xfrm>
          <a:prstGeom prst="rect">
            <a:avLst/>
          </a:prstGeom>
          <a:solidFill>
            <a:srgbClr val="2A9D8F"/>
          </a:solidFill>
          <a:ln w="12700">
            <a:solidFill>
              <a:srgbClr val="2A9D8F"/>
            </a:solidFill>
            <a:prstDash val="solid"/>
          </a:ln>
        </p:spPr>
        <p:txBody>
          <a:bodyPr/>
          <a:lstStyle/>
          <a:p>
            <a:endParaRPr lang="en-GB"/>
          </a:p>
        </p:txBody>
      </p:sp>
      <p:sp>
        <p:nvSpPr>
          <p:cNvPr id="13" name="Text 11"/>
          <p:cNvSpPr/>
          <p:nvPr/>
        </p:nvSpPr>
        <p:spPr>
          <a:xfrm>
            <a:off x="6172200" y="1234440"/>
            <a:ext cx="2377440" cy="365760"/>
          </a:xfrm>
          <a:prstGeom prst="rect">
            <a:avLst/>
          </a:prstGeom>
          <a:noFill/>
          <a:ln/>
        </p:spPr>
        <p:txBody>
          <a:bodyPr wrap="square" rtlCol="0" anchor="ctr"/>
          <a:lstStyle/>
          <a:p>
            <a:pPr marL="0" indent="0">
              <a:buNone/>
            </a:pPr>
            <a:r>
              <a:rPr lang="en-US" sz="1400" b="1" dirty="0">
                <a:solidFill>
                  <a:srgbClr val="2A9D8F"/>
                </a:solidFill>
                <a:latin typeface="Calibri" pitchFamily="34" charset="0"/>
                <a:ea typeface="Calibri" pitchFamily="34" charset="-122"/>
                <a:cs typeface="Calibri" pitchFamily="34" charset="-120"/>
              </a:rPr>
              <a:t>The one difference</a:t>
            </a:r>
            <a:endParaRPr lang="en-US" sz="1400" dirty="0"/>
          </a:p>
        </p:txBody>
      </p:sp>
      <p:sp>
        <p:nvSpPr>
          <p:cNvPr id="14" name="Text 12"/>
          <p:cNvSpPr/>
          <p:nvPr/>
        </p:nvSpPr>
        <p:spPr>
          <a:xfrm>
            <a:off x="6172200" y="1691640"/>
            <a:ext cx="2377440" cy="2468880"/>
          </a:xfrm>
          <a:prstGeom prst="rect">
            <a:avLst/>
          </a:prstGeom>
          <a:noFill/>
          <a:ln/>
        </p:spPr>
        <p:txBody>
          <a:bodyPr wrap="square" rtlCol="0" anchor="t"/>
          <a:lstStyle/>
          <a:p>
            <a:pPr marL="0" indent="0">
              <a:buNone/>
            </a:pPr>
            <a:r>
              <a:rPr lang="en-US" sz="1200" dirty="0">
                <a:solidFill>
                  <a:srgbClr val="0D1B2A"/>
                </a:solidFill>
                <a:latin typeface="Calibri" pitchFamily="34" charset="0"/>
                <a:ea typeface="Calibri" pitchFamily="34" charset="-122"/>
                <a:cs typeface="Calibri" pitchFamily="34" charset="-120"/>
              </a:rPr>
              <a:t>Ranking is shared, but absolute risk is not. Stomach is about three times worse stage-for-stage, an intrinsic aggressiveness rather than late diagnosis.</a:t>
            </a:r>
            <a:endParaRPr lang="en-US" sz="1200" dirty="0"/>
          </a:p>
        </p:txBody>
      </p:sp>
      <p:sp>
        <p:nvSpPr>
          <p:cNvPr id="15" name="Text 13"/>
          <p:cNvSpPr/>
          <p:nvPr/>
        </p:nvSpPr>
        <p:spPr>
          <a:xfrm>
            <a:off x="457200" y="4754880"/>
            <a:ext cx="8229600" cy="274320"/>
          </a:xfrm>
          <a:prstGeom prst="rect">
            <a:avLst/>
          </a:prstGeom>
          <a:noFill/>
          <a:ln/>
        </p:spPr>
        <p:txBody>
          <a:bodyPr wrap="square" rtlCol="0" anchor="ctr"/>
          <a:lstStyle/>
          <a:p>
            <a:pPr marL="0" indent="0">
              <a:buNone/>
            </a:pPr>
            <a:endParaRPr lang="en-US" sz="1000" dirty="0"/>
          </a:p>
        </p:txBody>
      </p:sp>
      <p:sp>
        <p:nvSpPr>
          <p:cNvPr id="65" name="slidenum"/>
          <p:cNvSpPr>
            <a:spLocks noGrp="1"/>
          </p:cNvSpPr>
          <p:nvPr/>
        </p:nvSpPr>
        <p:spPr>
          <a:xfrm>
            <a:off x="8469680" y="4790000"/>
            <a:ext cx="400000" cy="230000"/>
          </a:xfrm>
          <a:prstGeom prst="rect">
            <a:avLst/>
          </a:prstGeom>
          <a:noFill/>
        </p:spPr>
        <p:txBody>
          <a:bodyPr wrap="none" lIns="0" tIns="0" rIns="0" bIns="0" anchor="ctr"/>
          <a:lstStyle/>
          <a:p>
            <a:pPr algn="r"/>
            <a:r>
              <a:rPr lang="en-US" sz="1000" b="0">
                <a:solidFill>
                  <a:srgbClr val="808080"/>
                </a:solidFill>
              </a:rPr>
              <a:t>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512</TotalTime>
  <Words>2499</Words>
  <Application>Microsoft Office PowerPoint</Application>
  <PresentationFormat>On-screen Show (16:9)</PresentationFormat>
  <Paragraphs>232</Paragraphs>
  <Slides>27</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Survival Analysis of Colorectal and Stomach Cancers</dc:title>
  <dc:subject/>
  <dc:creator>Anmol Singh</dc:creator>
  <cp:lastModifiedBy>Anmol Singh</cp:lastModifiedBy>
  <cp:revision>16</cp:revision>
  <dcterms:created xsi:type="dcterms:W3CDTF">2026-06-02T20:28:58Z</dcterms:created>
  <dcterms:modified xsi:type="dcterms:W3CDTF">2026-07-14T17:49:54Z</dcterms:modified>
</cp:coreProperties>
</file>